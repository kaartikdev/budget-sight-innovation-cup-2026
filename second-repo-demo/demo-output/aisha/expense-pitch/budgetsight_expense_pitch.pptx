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D7656"/>
                </a:solidFill>
                <a:latin typeface="Aptos"/>
              </a:rPr>
              <a:t>BUDGETSIGHT  /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2820"/>
                </a:solidFill>
                <a:latin typeface="Aptos"/>
              </a:rPr>
              <a:t>Spending adds up quietly.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5766E"/>
                </a:solidFill>
                <a:latin typeface="Aptos"/>
              </a:rPr>
              <a:t>A lightweight tracker should make the everyday money picture easier to see.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5766E"/>
                </a:solidFill>
                <a:latin typeface="Aptos"/>
              </a:rPr>
              <a:t>BUDGETSIGHT  •  EXPENSE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5766E"/>
                </a:solidFill>
                <a:latin typeface="Apto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6492240" cy="3886200"/>
          </a:xfrm>
          <a:prstGeom prst="roundRect">
            <a:avLst>
              <a:gd name="adj" fmla="val 12000"/>
            </a:avLst>
          </a:prstGeom>
          <a:solidFill>
            <a:srgbClr val="1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8E36B"/>
                </a:solidFill>
                <a:latin typeface="Aptos"/>
              </a:rPr>
              <a:t>THE EVERYDAY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52928"/>
            <a:ext cx="5440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“Where did my money
go this month?”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343400"/>
            <a:ext cx="5257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8D5CE"/>
                </a:solidFill>
                <a:latin typeface="Aptos"/>
              </a:rPr>
              <a:t>Receipts, quick purchases, and small subscriptions blur together before anyone gets a clear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285232"/>
            <a:ext cx="1417320" cy="438912"/>
          </a:xfrm>
          <a:prstGeom prst="roundRect">
            <a:avLst>
              <a:gd name="adj" fmla="val 12000"/>
            </a:avLst>
          </a:prstGeom>
          <a:solidFill>
            <a:srgbClr val="27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358384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E36B"/>
                </a:solidFill>
                <a:latin typeface="Aptos"/>
              </a:rPr>
              <a:t>$4.25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5376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coffee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5285232"/>
            <a:ext cx="1417320" cy="438912"/>
          </a:xfrm>
          <a:prstGeom prst="roundRect">
            <a:avLst>
              <a:gd name="adj" fmla="val 12000"/>
            </a:avLst>
          </a:prstGeom>
          <a:solidFill>
            <a:srgbClr val="27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5358384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E36B"/>
                </a:solidFill>
                <a:latin typeface="Aptos"/>
              </a:rPr>
              <a:t>$18.40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376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lunch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5285232"/>
            <a:ext cx="1417320" cy="438912"/>
          </a:xfrm>
          <a:prstGeom prst="roundRect">
            <a:avLst>
              <a:gd name="adj" fmla="val 12000"/>
            </a:avLst>
          </a:prstGeom>
          <a:solidFill>
            <a:srgbClr val="27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5358384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8E36B"/>
                </a:solidFill>
                <a:latin typeface="Aptos"/>
              </a:rPr>
              <a:t>$12.00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376672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103120"/>
            <a:ext cx="4133087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45059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D7656"/>
                </a:solidFill>
                <a:latin typeface="Aptos"/>
              </a:rPr>
              <a:t>WHAT PEOPLE NEED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898648"/>
            <a:ext cx="82296" cy="82296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2852928"/>
            <a:ext cx="31363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Fast 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3163824"/>
            <a:ext cx="313639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5766E"/>
                </a:solidFill>
                <a:latin typeface="Aptos"/>
              </a:rPr>
              <a:t>Log a purchase while it is still fresh.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3867911"/>
            <a:ext cx="82296" cy="82296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9288" y="3822191"/>
            <a:ext cx="31363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A simple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9288" y="4133087"/>
            <a:ext cx="313639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5766E"/>
                </a:solidFill>
                <a:latin typeface="Aptos"/>
              </a:rPr>
              <a:t>See totals by month and category.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4837176"/>
            <a:ext cx="82296" cy="82296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9288" y="4791456"/>
            <a:ext cx="31363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5102352"/>
            <a:ext cx="313639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5766E"/>
                </a:solidFill>
                <a:latin typeface="Aptos"/>
              </a:rPr>
              <a:t>Keep a portable record without account linking.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D7656"/>
                </a:solidFill>
                <a:latin typeface="Aptos"/>
              </a:rPr>
              <a:t>BUDGETSIGHT  /  PRODUCT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2820"/>
                </a:solidFill>
                <a:latin typeface="Aptos"/>
              </a:rPr>
              <a:t>From purchase to a clear record.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5766E"/>
                </a:solidFill>
                <a:latin typeface="Aptos"/>
              </a:rPr>
              <a:t>A short, deliberate loop: log it, review it, take the data with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5766E"/>
                </a:solidFill>
                <a:latin typeface="Aptos"/>
              </a:rPr>
              <a:t>BUDGETSIGHT  •  EXPENSE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5766E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2487168"/>
            <a:ext cx="475488" cy="438912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587752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18211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ADD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30168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5766E"/>
                </a:solidFill>
                <a:latin typeface="Aptos"/>
              </a:rPr>
              <a:t>Amount · category
Date · optional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309067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D765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224028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03320" y="2487168"/>
            <a:ext cx="475488" cy="438912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587752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18211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630168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5766E"/>
                </a:solidFill>
                <a:latin typeface="Aptos"/>
              </a:rPr>
              <a:t>List and filter
by month or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09067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D7656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9944" y="224028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11112" y="2487168"/>
            <a:ext cx="475488" cy="438912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2587752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318211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UNDERSTAND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630168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5766E"/>
                </a:solidFill>
                <a:latin typeface="Aptos"/>
              </a:rPr>
              <a:t>Monthly and category
totals at a glance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309067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D7656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7736" y="2240280"/>
            <a:ext cx="25603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18904" y="2487168"/>
            <a:ext cx="475488" cy="438912"/>
          </a:xfrm>
          <a:prstGeom prst="roundRect">
            <a:avLst>
              <a:gd name="adj" fmla="val 12000"/>
            </a:avLst>
          </a:prstGeom>
          <a:solidFill>
            <a:srgbClr val="B5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18904" y="2587752"/>
            <a:ext cx="475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318211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TAKE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4" y="3630168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5766E"/>
                </a:solidFill>
                <a:latin typeface="Aptos"/>
              </a:rPr>
              <a:t>Export a portable
CSV when you need 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983480"/>
            <a:ext cx="10991088" cy="841248"/>
          </a:xfrm>
          <a:prstGeom prst="roundRect">
            <a:avLst>
              <a:gd name="adj" fmla="val 12000"/>
            </a:avLst>
          </a:prstGeom>
          <a:solidFill>
            <a:srgbClr val="DD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212080"/>
            <a:ext cx="104698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D7656"/>
                </a:solidFill>
                <a:latin typeface="Aptos"/>
              </a:rPr>
              <a:t>No bank connection required in this demo. Start with the expenses you choose to enter.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D7656"/>
                </a:solidFill>
                <a:latin typeface="Aptos"/>
              </a:rPr>
              <a:t>BUDGETSIGHT  /  CATEGORY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2820"/>
                </a:solidFill>
                <a:latin typeface="Aptos"/>
              </a:rPr>
              <a:t>A small log can answer a useful question.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5766E"/>
                </a:solidFill>
                <a:latin typeface="Aptos"/>
              </a:rPr>
              <a:t>Illustrative month • sample figures only • not real customer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5766E"/>
                </a:solidFill>
                <a:latin typeface="Aptos"/>
              </a:rPr>
              <a:t>BUDGETSIGHT  •  EXPENSE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5766E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6812280" cy="3886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5766E"/>
                </a:solidFill>
                <a:latin typeface="Aptos"/>
              </a:rPr>
              <a:t>SEPTEMBER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8892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32820"/>
                </a:solidFill>
                <a:latin typeface="Aptos"/>
              </a:rPr>
              <a:t>$1,284.60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566160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32820"/>
                </a:solidFill>
                <a:latin typeface="Aptos"/>
              </a:rPr>
              <a:t>Food &amp; drink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3593591"/>
            <a:ext cx="2971800" cy="155448"/>
          </a:xfrm>
          <a:prstGeom prst="roundRect">
            <a:avLst>
              <a:gd name="adj" fmla="val 12000"/>
            </a:avLst>
          </a:prstGeom>
          <a:solidFill>
            <a:srgbClr val="EA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42032" y="3593591"/>
            <a:ext cx="2971800" cy="155448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32704" y="3566160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32820"/>
                </a:solidFill>
                <a:latin typeface="Aptos"/>
              </a:rPr>
              <a:t>$486.20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35661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5766E"/>
                </a:solidFill>
                <a:latin typeface="Aptos"/>
              </a:rPr>
              <a:t>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096511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32820"/>
                </a:solidFill>
                <a:latin typeface="Aptos"/>
              </a:rPr>
              <a:t>Transport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42032" y="4123944"/>
            <a:ext cx="2971800" cy="155448"/>
          </a:xfrm>
          <a:prstGeom prst="roundRect">
            <a:avLst>
              <a:gd name="adj" fmla="val 12000"/>
            </a:avLst>
          </a:prstGeom>
          <a:solidFill>
            <a:srgbClr val="EA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42032" y="4123944"/>
            <a:ext cx="1689439" cy="155448"/>
          </a:xfrm>
          <a:prstGeom prst="roundRect">
            <a:avLst>
              <a:gd name="adj" fmla="val 12000"/>
            </a:avLst>
          </a:prstGeom>
          <a:solidFill>
            <a:srgbClr val="4A9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32704" y="4096511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32820"/>
                </a:solidFill>
                <a:latin typeface="Aptos"/>
              </a:rPr>
              <a:t>$276.40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409651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5766E"/>
                </a:solidFill>
                <a:latin typeface="Aptos"/>
              </a:rPr>
              <a:t>22%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62686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32820"/>
                </a:solidFill>
                <a:latin typeface="Aptos"/>
              </a:rPr>
              <a:t>Home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2032" y="4654296"/>
            <a:ext cx="2971800" cy="155448"/>
          </a:xfrm>
          <a:prstGeom prst="roundRect">
            <a:avLst>
              <a:gd name="adj" fmla="val 12000"/>
            </a:avLst>
          </a:prstGeom>
          <a:solidFill>
            <a:srgbClr val="EA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42032" y="4654296"/>
            <a:ext cx="1332481" cy="155448"/>
          </a:xfrm>
          <a:prstGeom prst="roundRect">
            <a:avLst>
              <a:gd name="adj" fmla="val 12000"/>
            </a:avLst>
          </a:prstGeom>
          <a:solidFill>
            <a:srgbClr val="B8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32704" y="4626864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32820"/>
                </a:solidFill>
                <a:latin typeface="Aptos"/>
              </a:rPr>
              <a:t>$218.00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462686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5766E"/>
                </a:solidFill>
                <a:latin typeface="Aptos"/>
              </a:rPr>
              <a:t>17%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15721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32820"/>
                </a:solidFill>
                <a:latin typeface="Aptos"/>
              </a:rPr>
              <a:t>Other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42032" y="5184648"/>
            <a:ext cx="2971800" cy="155448"/>
          </a:xfrm>
          <a:prstGeom prst="roundRect">
            <a:avLst>
              <a:gd name="adj" fmla="val 12000"/>
            </a:avLst>
          </a:prstGeom>
          <a:solidFill>
            <a:srgbClr val="EA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42032" y="5184648"/>
            <a:ext cx="1858139" cy="155448"/>
          </a:xfrm>
          <a:prstGeom prst="roundRect">
            <a:avLst>
              <a:gd name="adj" fmla="val 12000"/>
            </a:avLst>
          </a:prstGeom>
          <a:solidFill>
            <a:srgbClr val="AFC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32704" y="5157216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32820"/>
                </a:solidFill>
                <a:latin typeface="Aptos"/>
              </a:rPr>
              <a:t>$304.00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515721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5766E"/>
                </a:solidFill>
                <a:latin typeface="Aptos"/>
              </a:rPr>
              <a:t>23%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99248" y="2148840"/>
            <a:ext cx="3886200" cy="3886200"/>
          </a:xfrm>
          <a:prstGeom prst="roundRect">
            <a:avLst>
              <a:gd name="adj" fmla="val 12000"/>
            </a:avLst>
          </a:prstGeom>
          <a:solidFill>
            <a:srgbClr val="1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8" y="251460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8E36B"/>
                </a:solidFill>
                <a:latin typeface="Aptos"/>
              </a:rPr>
              <a:t>THE 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2944368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Food &amp; drink is the largest category.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4160520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8D5CE"/>
                </a:solidFill>
                <a:latin typeface="Aptos"/>
              </a:rPr>
              <a:t>That is the kind of quick “where did it go?” answer BudgetSight makes easier to find.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53492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8E36B"/>
                </a:solidFill>
                <a:latin typeface="Aptos"/>
              </a:rPr>
              <a:t>FILTER  →  SUMMARIZE  →  NOTICE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D7656"/>
                </a:solidFill>
                <a:latin typeface="Aptos"/>
              </a:rPr>
              <a:t>BUDGETSIGHT  /  TRUST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2820"/>
                </a:solidFill>
                <a:latin typeface="Aptos"/>
              </a:rPr>
              <a:t>Your record stays in your hands.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5766E"/>
                </a:solidFill>
                <a:latin typeface="Aptos"/>
              </a:rPr>
              <a:t>A transparent starting point: local storage and straightforward export.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5766E"/>
                </a:solidFill>
                <a:latin typeface="Aptos"/>
              </a:rPr>
              <a:t>BUDGETSIGHT  •  EXPENSE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5766E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5029200" cy="3749039"/>
          </a:xfrm>
          <a:prstGeom prst="roundRect">
            <a:avLst>
              <a:gd name="adj" fmla="val 12000"/>
            </a:avLst>
          </a:prstGeom>
          <a:solidFill>
            <a:srgbClr val="1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688336"/>
            <a:ext cx="1097280" cy="1115568"/>
          </a:xfrm>
          <a:prstGeom prst="roundRect">
            <a:avLst>
              <a:gd name="adj" fmla="val 12000"/>
            </a:avLst>
          </a:prstGeom>
          <a:solidFill>
            <a:srgbClr val="274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61872" y="2880360"/>
            <a:ext cx="475488" cy="640080"/>
          </a:xfrm>
          <a:prstGeom prst="roundRect">
            <a:avLst>
              <a:gd name="adj" fmla="val 12000"/>
            </a:avLst>
          </a:prstGeom>
          <a:solidFill>
            <a:srgbClr val="B8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53312" y="3035808"/>
            <a:ext cx="292608" cy="32004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53312" y="3154679"/>
            <a:ext cx="292608" cy="32004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53312" y="3273552"/>
            <a:ext cx="292608" cy="32004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4288" y="2734056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8E36B"/>
                </a:solidFill>
                <a:latin typeface="Aptos"/>
              </a:rPr>
              <a:t>DATA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288" y="30906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Your entries → local JSON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251960"/>
            <a:ext cx="416966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8D5CE"/>
                </a:solidFill>
                <a:latin typeface="Aptos"/>
              </a:rPr>
              <a:t>This demo reads and writes the file you choose. It does not need a bank login to record expenses.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148840"/>
            <a:ext cx="5596128" cy="3749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523744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D7656"/>
                </a:solidFill>
                <a:latin typeface="Aptos"/>
              </a:rPr>
              <a:t>BUILT INTO THE 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953512"/>
            <a:ext cx="82296" cy="82296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907792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Local-first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218688"/>
            <a:ext cx="45537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5766E"/>
                </a:solidFill>
                <a:latin typeface="Aptos"/>
              </a:rPr>
              <a:t>Expense data is stored in a local JSON file.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58768"/>
            <a:ext cx="82296" cy="82296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3813048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Portable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123944"/>
            <a:ext cx="45537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5766E"/>
                </a:solidFill>
                <a:latin typeface="Aptos"/>
              </a:rPr>
              <a:t>Export records to CSV for your own use.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764024"/>
            <a:ext cx="82296" cy="82296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4718304"/>
            <a:ext cx="4553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Clear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5029200"/>
            <a:ext cx="45537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5766E"/>
                </a:solidFill>
                <a:latin typeface="Aptos"/>
              </a:rPr>
              <a:t>No cloud sync or security certification is claimed.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D7656"/>
                </a:solidFill>
                <a:latin typeface="Aptos"/>
              </a:rPr>
              <a:t>BUDGETSIGHT  / 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2820"/>
                </a:solidFill>
                <a:latin typeface="Aptos"/>
              </a:rPr>
              <a:t>Grow from a reliable ledger.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5766E"/>
                </a:solidFill>
                <a:latin typeface="Aptos"/>
              </a:rPr>
              <a:t>A focused path that keeps clarity and user control at the center.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5766E"/>
                </a:solidFill>
                <a:latin typeface="Aptos"/>
              </a:rPr>
              <a:t>BUDGETSIGHT  •  EXPENSE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5766E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1099108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395728"/>
            <a:ext cx="1115568" cy="438912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50545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36829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Make capture dependable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377440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5766E"/>
                </a:solidFill>
                <a:latin typeface="Aptos"/>
              </a:rPr>
              <a:t>Fast entry, valid records, useful filters and summaries.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29000"/>
            <a:ext cx="1099108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630168"/>
            <a:ext cx="1115568" cy="438912"/>
          </a:xfrm>
          <a:prstGeom prst="roundRect">
            <a:avLst>
              <a:gd name="adj" fmla="val 12000"/>
            </a:avLst>
          </a:prstGeom>
          <a:solidFill>
            <a:srgbClr val="B8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73989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32820"/>
                </a:solidFill>
                <a:latin typeface="Apto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60273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Make patterns easier to spot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611880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5766E"/>
                </a:solidFill>
                <a:latin typeface="Aptos"/>
              </a:rPr>
              <a:t>Recurring expense cues and clearer month-over-month views.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63440"/>
            <a:ext cx="1099108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4864607"/>
            <a:ext cx="1115568" cy="438912"/>
          </a:xfrm>
          <a:prstGeom prst="roundRect">
            <a:avLst>
              <a:gd name="adj" fmla="val 12000"/>
            </a:avLst>
          </a:prstGeom>
          <a:solidFill>
            <a:srgbClr val="DD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974336"/>
            <a:ext cx="11155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32820"/>
                </a:solidFill>
                <a:latin typeface="Aptos"/>
              </a:rPr>
              <a:t>LATER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83717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32820"/>
                </a:solidFill>
                <a:latin typeface="Aptos"/>
              </a:rPr>
              <a:t>Add optional convenience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846320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5766E"/>
                </a:solidFill>
                <a:latin typeface="Aptos"/>
              </a:rPr>
              <a:t>Explore import and backup choices with explicit user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0533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5766E"/>
                </a:solidFill>
                <a:latin typeface="Aptos"/>
              </a:rPr>
              <a:t>Roadmap concepts are exploratory; they are not current product capabilities.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D7656"/>
                </a:solidFill>
                <a:latin typeface="Aptos"/>
              </a:rPr>
              <a:t>BUDGETSIGHT  / 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32820"/>
                </a:solidFill>
                <a:latin typeface="Aptos"/>
              </a:rPr>
              <a:t>Start with one week of expenses.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99032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5766E"/>
                </a:solidFill>
                <a:latin typeface="Aptos"/>
              </a:rPr>
              <a:t>Try the simple loop. Keep what works. Decide what you want to see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5766E"/>
                </a:solidFill>
                <a:latin typeface="Aptos"/>
              </a:rPr>
              <a:t>BUDGETSIGHT  •  EXPENSE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5766E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6492240" cy="3886200"/>
          </a:xfrm>
          <a:prstGeom prst="roundRect">
            <a:avLst>
              <a:gd name="adj" fmla="val 12000"/>
            </a:avLst>
          </a:prstGeom>
          <a:solidFill>
            <a:srgbClr val="13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23744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8E36B"/>
                </a:solidFill>
                <a:latin typeface="Aptos"/>
              </a:rPr>
              <a:t>BUDGETSIGHT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5440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See your spending
with fresh eyes.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4370832"/>
            <a:ext cx="5257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D5CE"/>
                </a:solidFill>
                <a:latin typeface="Aptos"/>
              </a:rPr>
              <a:t>Capture a few purchases. Review the category totals. Export the record whenever you like.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5257800"/>
            <a:ext cx="2304288" cy="502920"/>
          </a:xfrm>
          <a:prstGeom prst="roundRect">
            <a:avLst>
              <a:gd name="adj" fmla="val 12000"/>
            </a:avLst>
          </a:prstGeom>
          <a:solidFill>
            <a:srgbClr val="B8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5404104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32820"/>
                </a:solidFill>
                <a:latin typeface="Aptos"/>
              </a:rPr>
              <a:t>TRY THE TRACKER 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148840"/>
            <a:ext cx="4133087" cy="3886200"/>
          </a:xfrm>
          <a:prstGeom prst="roundRect">
            <a:avLst>
              <a:gd name="adj" fmla="val 12000"/>
            </a:avLst>
          </a:prstGeom>
          <a:solidFill>
            <a:srgbClr val="DD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256032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D7656"/>
                </a:solidFill>
                <a:latin typeface="Aptos"/>
              </a:rPr>
              <a:t>A GOOD FIRST SESSION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36408" y="3054096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3086100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049524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32820"/>
                </a:solidFill>
                <a:latin typeface="Aptos"/>
              </a:rPr>
              <a:t>Add today’s expenses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36408" y="3611879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8" y="3643884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607308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32820"/>
                </a:solidFill>
                <a:latin typeface="Aptos"/>
              </a:rPr>
              <a:t>Filter to this month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36408" y="4169663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8" y="420166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165091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32820"/>
                </a:solidFill>
                <a:latin typeface="Aptos"/>
              </a:rPr>
              <a:t>Check category totals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36408" y="4727448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1D7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475945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722876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32820"/>
                </a:solidFill>
                <a:latin typeface="Aptos"/>
              </a:rPr>
              <a:t>Export a CSV backup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8" y="546811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7656"/>
                </a:solidFill>
                <a:latin typeface="Aptos"/>
              </a:rPr>
              <a:t>Small steps. Clearer picture.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BudgetSight | Expense tracker product pitch</dc:title>
  <dc:subject>Six-slide product pitch for the BudgetSight expense tracker demo</dc:subject>
  <dc:creator>BudgetSight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