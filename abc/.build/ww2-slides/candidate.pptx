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2514bc36ca64707" /><Relationship Type="http://schemas.openxmlformats.org/officeDocument/2006/relationships/extended-properties" Target="/docProps/app.xml" Id="R337f0a1d09324b5e" /><Relationship Type="http://schemas.openxmlformats.org/officeDocument/2006/relationships/officeDocument" Target="/ppt/presentation.xml" Id="Rc8d260d9671e4e15" /></Relationships>
</file>

<file path=ppt/presentation.xml><?xml version="1.0" encoding="utf-8"?>
<p:presentation xmlns:p="http://schemas.openxmlformats.org/presentationml/2006/main">
  <p:sldMasterIdLst>
    <p:sldMasterId xmlns:r="http://schemas.openxmlformats.org/officeDocument/2006/relationships" id="2147483648" r:id="Ra59d45c97e444297"/>
  </p:sldMasterIdLst>
  <p:notesMasterIdLst>
    <p:notesMasterId xmlns:r="http://schemas.openxmlformats.org/officeDocument/2006/relationships" r:id="R5addbe4b08594a36"/>
  </p:notesMasterIdLst>
  <p:sldIdLst>
    <p:sldId xmlns:r="http://schemas.openxmlformats.org/officeDocument/2006/relationships" id="256" r:id="R932d4af7ad584d3c"/>
    <p:sldId xmlns:r="http://schemas.openxmlformats.org/officeDocument/2006/relationships" id="257" r:id="R2707e4af4a324463"/>
    <p:sldId xmlns:r="http://schemas.openxmlformats.org/officeDocument/2006/relationships" id="258" r:id="R4b4a32fe10894469"/>
    <p:sldId xmlns:r="http://schemas.openxmlformats.org/officeDocument/2006/relationships" id="259" r:id="Rff9e416b4eba4b9d"/>
    <p:sldId xmlns:r="http://schemas.openxmlformats.org/officeDocument/2006/relationships" id="260" r:id="R1a075ef470a34e2e"/>
    <p:sldId xmlns:r="http://schemas.openxmlformats.org/officeDocument/2006/relationships" id="261" r:id="Rb77d877f427b4fe1"/>
    <p:sldId xmlns:r="http://schemas.openxmlformats.org/officeDocument/2006/relationships" id="262" r:id="R18523a742e5d474b"/>
    <p:sldId xmlns:r="http://schemas.openxmlformats.org/officeDocument/2006/relationships" id="263" r:id="R3d398ad539b14aec"/>
    <p:sldId xmlns:r="http://schemas.openxmlformats.org/officeDocument/2006/relationships" id="264" r:id="Rfff48adc1ed044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e63828ebc084840" /><Relationship Type="http://schemas.openxmlformats.org/officeDocument/2006/relationships/slideMaster" Target="/ppt/slideMasters/slideMaster1.xml" Id="Ra59d45c97e444297" /><Relationship Type="http://schemas.openxmlformats.org/officeDocument/2006/relationships/notesMaster" Target="/ppt/notesMasters/notesMaster1.xml" Id="R5addbe4b08594a36" /><Relationship Type="http://schemas.openxmlformats.org/officeDocument/2006/relationships/presProps" Target="/ppt/presProps.xml" Id="R9c9249382b724337" /><Relationship Type="http://schemas.openxmlformats.org/officeDocument/2006/relationships/tableStyles" Target="/ppt/tableStyles.xml" Id="R1df29ef07db74c33" /><Relationship Type="http://schemas.openxmlformats.org/officeDocument/2006/relationships/slide" Target="/ppt/slides/slide1.xml" Id="R932d4af7ad584d3c" /><Relationship Type="http://schemas.openxmlformats.org/officeDocument/2006/relationships/slide" Target="/ppt/slides/slide2.xml" Id="R2707e4af4a324463" /><Relationship Type="http://schemas.openxmlformats.org/officeDocument/2006/relationships/slide" Target="/ppt/slides/slide3.xml" Id="R4b4a32fe10894469" /><Relationship Type="http://schemas.openxmlformats.org/officeDocument/2006/relationships/slide" Target="/ppt/slides/slide4.xml" Id="Rff9e416b4eba4b9d" /><Relationship Type="http://schemas.openxmlformats.org/officeDocument/2006/relationships/slide" Target="/ppt/slides/slide5.xml" Id="R1a075ef470a34e2e" /><Relationship Type="http://schemas.openxmlformats.org/officeDocument/2006/relationships/slide" Target="/ppt/slides/slide6.xml" Id="Rb77d877f427b4fe1" /><Relationship Type="http://schemas.openxmlformats.org/officeDocument/2006/relationships/slide" Target="/ppt/slides/slide7.xml" Id="R18523a742e5d474b" /><Relationship Type="http://schemas.openxmlformats.org/officeDocument/2006/relationships/slide" Target="/ppt/slides/slide8.xml" Id="R3d398ad539b14aec" /><Relationship Type="http://schemas.openxmlformats.org/officeDocument/2006/relationships/slide" Target="/ppt/slides/slide9.xml" Id="Rfff48adc1ed044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57be34dbf294b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57a50f40ac4663" /><Relationship Type="http://schemas.openxmlformats.org/officeDocument/2006/relationships/notesMaster" Target="/ppt/notesMasters/notesMaster1.xml" Id="Re74573e2f33043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2add223f66c744e6" /><Relationship Type="http://schemas.openxmlformats.org/officeDocument/2006/relationships/notesMaster" Target="/ppt/notesMasters/notesMaster1.xml" Id="Rf42d745ca5f647c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6b0d711a6c4465" /><Relationship Type="http://schemas.openxmlformats.org/officeDocument/2006/relationships/notesMaster" Target="/ppt/notesMasters/notesMaster1.xml" Id="Reb5d2aa8da8947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3ddb992e0b4878" /><Relationship Type="http://schemas.openxmlformats.org/officeDocument/2006/relationships/notesMaster" Target="/ppt/notesMasters/notesMaster1.xml" Id="Rf348d20f628b44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0b5d9251794273" /><Relationship Type="http://schemas.openxmlformats.org/officeDocument/2006/relationships/notesMaster" Target="/ppt/notesMasters/notesMaster1.xml" Id="Ra5fc42d2503144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247b3c4e9c1b48ba" /><Relationship Type="http://schemas.openxmlformats.org/officeDocument/2006/relationships/notesMaster" Target="/ppt/notesMasters/notesMaster1.xml" Id="R43de03d9cc44481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f47db0f248741f7" /><Relationship Type="http://schemas.openxmlformats.org/officeDocument/2006/relationships/notesMaster" Target="/ppt/notesMasters/notesMaster1.xml" Id="R9da0201f4d4b437d" /></Relationships>
</file>

<file path=ppt/notesSlides/_rels/notesSlide8.xml.rels>&#65279;<?xml version="1.0" encoding="utf-8"?><Relationships xmlns="http://schemas.openxmlformats.org/package/2006/relationships"><Relationship Type="http://schemas.openxmlformats.org/officeDocument/2006/relationships/slide" Target="/ppt/slides/slide8.xml" Id="R21d1f1cf6d034364" /><Relationship Type="http://schemas.openxmlformats.org/officeDocument/2006/relationships/notesMaster" Target="/ppt/notesMasters/notesMaster1.xml" Id="R0a723f2ae2c7449d" /></Relationships>
</file>

<file path=ppt/notesSlides/_rels/notesSlide9.xml.rels>&#65279;<?xml version="1.0" encoding="utf-8"?><Relationships xmlns="http://schemas.openxmlformats.org/package/2006/relationships"><Relationship Type="http://schemas.openxmlformats.org/officeDocument/2006/relationships/slide" Target="/ppt/slides/slide9.xml" Id="Rf7e7dd606df24311" /><Relationship Type="http://schemas.openxmlformats.org/officeDocument/2006/relationships/notesMaster" Target="/ppt/notesMasters/notesMaster1.xml" Id="R53b1f25aa811406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Overview sources: https://www.nationalww2museum.org/sites/default/files/2017-07/timeline-full-lesson.pdf ; https://encyclopedia.ushmm.org/content/en/article/world-war-ii-in-depth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https://www.nationalww2museum.org/war/articles/war-war-europe-1919-1939 ; https://www.nationalww2museum.org/sites/default/files/2017-07/timeline-full-lesson.pdf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https://www.nationalww2museum.org/sites/default/files/2017-07/timeline-full-lesson.pdf ; https://encyclopedia.ushmm.org/content/en/article/world-war-ii-in-depth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https://www.nationalww2museum.org/home-front-selected-chronology ; https://www.nationalww2museum.org/war/articles/pacific-strategy-1941-1944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https://www.nationalww2museum.org/war/articles/pacific-strategy-1941-1944 ; https://www.nationalww2museum.org/sites/default/files/2024-05/WWII_2023-Annual-Report_Digital.pdf ; https://www.nationalww2museum.org/sites/default/files/2017-07/timeline-full-lesson.pdf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https://encyclopedia.ushmm.org/content/en/article/world-war-ii-in-depth ; https://encyclopedia.ushmm.org/content/en/article/the-final-solution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https://www.nationalww2museum.org/d-day-timeline ; https://www.nationalww2museum.org/war/topics/d-day-and-normandy-campaign ; https://www.nationalww2museum.org/sites/default/files/2017-07/timeline-full-lesson.pdf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https://www.nationalww2museum.org/war/topics/end-world-war-ii-1945 ; https://www.nationalww2museum.org/sites/default/files/2017-07/timeline-full-lesson.pdf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https://www.un.org/en/about-us/history-of-the-un ; https://history.state.gov/countries/germany ; https://history.state.gov/milestones/1945-1952/berlin-airlift ; https://www.nationalww2museum.org/sites/default/files/2017-07/timeline-full-lesson.pdf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e3e6cd787b456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e1ffecd0ba48d7" /><Relationship Type="http://schemas.openxmlformats.org/officeDocument/2006/relationships/slideLayout" Target="/ppt/slideLayouts/slideLayout1.xml" Id="R7de9ccfc68214f2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de9ccfc68214f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3d69bae72ef4d24" /><Relationship Type="http://schemas.openxmlformats.org/officeDocument/2006/relationships/notesSlide" Target="/ppt/notesSlides/notesSlide1.xml" Id="R0b2bf07ef50e4b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f87cb8d084648fb" /><Relationship Type="http://schemas.openxmlformats.org/officeDocument/2006/relationships/notesSlide" Target="/ppt/notesSlides/notesSlide2.xml" Id="R40405232d2c24e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bec5f148a894831" /><Relationship Type="http://schemas.openxmlformats.org/officeDocument/2006/relationships/notesSlide" Target="/ppt/notesSlides/notesSlide3.xml" Id="Rcfedce2a5edc42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b197965f6be48f2" /><Relationship Type="http://schemas.openxmlformats.org/officeDocument/2006/relationships/notesSlide" Target="/ppt/notesSlides/notesSlide4.xml" Id="R5f1b8aabddbc48d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460c2784a1d4a4b" /><Relationship Type="http://schemas.openxmlformats.org/officeDocument/2006/relationships/notesSlide" Target="/ppt/notesSlides/notesSlide5.xml" Id="R2977e9c297414db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025e8d83e7e411d" /><Relationship Type="http://schemas.openxmlformats.org/officeDocument/2006/relationships/notesSlide" Target="/ppt/notesSlides/notesSlide6.xml" Id="R38ca2fe2e9be451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d7dfae764034350" /><Relationship Type="http://schemas.openxmlformats.org/officeDocument/2006/relationships/notesSlide" Target="/ppt/notesSlides/notesSlide7.xml" Id="R0c95a56aa58f4b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3a48580044e420c" /><Relationship Type="http://schemas.openxmlformats.org/officeDocument/2006/relationships/notesSlide" Target="/ppt/notesSlides/notesSlide8.xml" Id="R43f4584d0dda402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1af5dfdb87648e6" /><Relationship Type="http://schemas.openxmlformats.org/officeDocument/2006/relationships/notesSlide" Target="/ppt/notesSlides/notesSlide9.xml" Id="Rdff85a3d3ef44cd9" /></Relationships>
</file>

<file path=ppt/slides/slide1.xml><?xml version="1.0" encoding="utf-8"?>
<p:sld xmlns:p="http://schemas.openxmlformats.org/presentationml/2006/main">
  <p:cSld>
    <p:bg>
      <p:bgPr>
        <a:solidFill xmlns:a="http://schemas.openxmlformats.org/drawingml/2006/main">
          <a:srgbClr val="131E2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4E68B96-0129-41BE-BF88-4FF56A6FC95A}"/>
              </a:ext>
            </a:extLst>
          </p:cNvPr>
          <p:cNvSpPr>
            <a:spLocks xmlns:a="http://schemas.openxmlformats.org/drawingml/2006/main" noGrp="1"/>
          </p:cNvSpPr>
          <p:nvPr/>
        </p:nvSpPr>
        <p:spPr>
          <a:xfrm xmlns:a="http://schemas.openxmlformats.org/drawingml/2006/main">
            <a:off x="685800" y="171450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5100" b="1">
                <a:solidFill>
                  <a:srgbClr val="F4F0E8"/>
                </a:solidFill>
                <a:latin typeface="Helvetica Neue"/>
                <a:ea typeface="Helvetica Neue"/>
                <a:cs typeface="Helvetica Neue"/>
              </a:defRPr>
            </a:pPr>
            <a:r>
              <a:rPr sz="5100" b="1">
                <a:solidFill>
                  <a:srgbClr val="F4F0E8"/>
                </a:solidFill>
                <a:latin typeface="Helvetica Neue"/>
                <a:ea typeface="Helvetica Neue"/>
                <a:cs typeface="Helvetica Neue"/>
              </a:rPr>
              <a:t>WORLD WAR II</a:t>
            </a:r>
          </a:p>
        </p:txBody>
      </p:sp>
      <p:sp>
        <p:nvSpPr>
          <p:cNvPr id="2" name="">
            <a:extLst xmlns:a="http://schemas.openxmlformats.org/drawingml/2006/main">
              <a:ext uri="{FF2B5EF4-FFF2-40B4-BE49-F238E27FC236}">
                <a16:creationId xmlns:a16="http://schemas.microsoft.com/office/drawing/2014/main" id="{67B3E8A2-0DC4-4C54-B790-81AEAD47AB3B}"/>
              </a:ext>
            </a:extLst>
          </p:cNvPr>
          <p:cNvSpPr>
            <a:spLocks xmlns:a="http://schemas.openxmlformats.org/drawingml/2006/main" noGrp="1"/>
          </p:cNvSpPr>
          <p:nvPr/>
        </p:nvSpPr>
        <p:spPr>
          <a:xfrm xmlns:a="http://schemas.openxmlformats.org/drawingml/2006/main">
            <a:off x="714375" y="2790825"/>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E7B65E"/>
                </a:solidFill>
                <a:latin typeface="Helvetica Neue"/>
                <a:ea typeface="Helvetica Neue"/>
                <a:cs typeface="Helvetica Neue"/>
              </a:defRPr>
            </a:pPr>
            <a:r>
              <a:rPr sz="2175" b="0">
                <a:solidFill>
                  <a:srgbClr val="E7B65E"/>
                </a:solidFill>
                <a:latin typeface="Helvetica Neue"/>
                <a:ea typeface="Helvetica Neue"/>
                <a:cs typeface="Helvetica Neue"/>
              </a:rPr>
              <a:t>A short history of a global conflict</a:t>
            </a:r>
          </a:p>
        </p:txBody>
      </p:sp>
      <p:sp>
        <p:nvSpPr>
          <p:cNvPr id="3" name="">
            <a:extLst xmlns:a="http://schemas.openxmlformats.org/drawingml/2006/main">
              <a:ext uri="{FF2B5EF4-FFF2-40B4-BE49-F238E27FC236}">
                <a16:creationId xmlns:a16="http://schemas.microsoft.com/office/drawing/2014/main" id="{A8F9F6FC-32B1-4584-883B-2157E54B5B2D}"/>
              </a:ext>
            </a:extLst>
          </p:cNvPr>
          <p:cNvSpPr>
            <a:spLocks xmlns:a="http://schemas.openxmlformats.org/drawingml/2006/main" noGrp="1"/>
          </p:cNvSpPr>
          <p:nvPr/>
        </p:nvSpPr>
        <p:spPr>
          <a:xfrm xmlns:a="http://schemas.openxmlformats.org/drawingml/2006/main">
            <a:off x="714375" y="5219700"/>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BEC8CE"/>
                </a:solidFill>
                <a:latin typeface="Helvetica Neue"/>
                <a:ea typeface="Helvetica Neue"/>
                <a:cs typeface="Helvetica Neue"/>
              </a:defRPr>
            </a:pPr>
            <a:r>
              <a:rPr sz="2400" b="0">
                <a:solidFill>
                  <a:srgbClr val="BEC8CE"/>
                </a:solidFill>
                <a:latin typeface="Helvetica Neue"/>
                <a:ea typeface="Helvetica Neue"/>
                <a:cs typeface="Helvetica Neue"/>
              </a:rPr>
              <a:t>1939–1945</a:t>
            </a:r>
          </a:p>
        </p:txBody>
      </p:sp>
    </p:spTree>
    <p:extLst>
      <p:ext uri="{BB962C8B-B14F-4D97-AF65-F5344CB8AC3E}">
        <p14:creationId xmlns:p14="http://schemas.microsoft.com/office/powerpoint/2010/main" val="517652475"/>
      </p:ext>
    </p:extLst>
  </p:cSld>
</p:sld>
</file>

<file path=ppt/slides/slide2.xml><?xml version="1.0" encoding="utf-8"?>
<p:sld xmlns:p="http://schemas.openxmlformats.org/presentationml/2006/main">
  <p:cSld>
    <p:bg>
      <p:bgPr>
        <a:solidFill xmlns:a="http://schemas.openxmlformats.org/drawingml/2006/main">
          <a:srgbClr val="131E2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AC585EB-0C01-4954-AB37-898275C13A85}"/>
              </a:ext>
            </a:extLst>
          </p:cNvPr>
          <p:cNvSpPr>
            <a:spLocks xmlns:a="http://schemas.openxmlformats.org/drawingml/2006/main" noGrp="1"/>
          </p:cNvSpPr>
          <p:nvPr/>
        </p:nvSpPr>
        <p:spPr>
          <a:xfrm xmlns:a="http://schemas.openxmlformats.org/drawingml/2006/main">
            <a:off x="685800" y="4572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F4F0E8"/>
                </a:solidFill>
                <a:latin typeface="Helvetica Neue"/>
                <a:ea typeface="Helvetica Neue"/>
                <a:cs typeface="Helvetica Neue"/>
              </a:defRPr>
            </a:pPr>
            <a:r>
              <a:rPr sz="3000" b="1">
                <a:solidFill>
                  <a:srgbClr val="F4F0E8"/>
                </a:solidFill>
                <a:latin typeface="Helvetica Neue"/>
                <a:ea typeface="Helvetica Neue"/>
                <a:cs typeface="Helvetica Neue"/>
              </a:rPr>
              <a:t>Origins of the war</a:t>
            </a:r>
          </a:p>
        </p:txBody>
      </p:sp>
      <p:sp>
        <p:nvSpPr>
          <p:cNvPr id="2" name="">
            <a:extLst xmlns:a="http://schemas.openxmlformats.org/drawingml/2006/main">
              <a:ext uri="{FF2B5EF4-FFF2-40B4-BE49-F238E27FC236}">
                <a16:creationId xmlns:a16="http://schemas.microsoft.com/office/drawing/2014/main" id="{67260EF6-360C-48B5-A2E2-3A9B42B44120}"/>
              </a:ext>
            </a:extLst>
          </p:cNvPr>
          <p:cNvSpPr>
            <a:spLocks xmlns:a="http://schemas.openxmlformats.org/drawingml/2006/main" noGrp="1"/>
          </p:cNvSpPr>
          <p:nvPr/>
        </p:nvSpPr>
        <p:spPr>
          <a:xfrm xmlns:a="http://schemas.openxmlformats.org/drawingml/2006/main">
            <a:off x="685800" y="124777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E7B65E"/>
                </a:solidFill>
                <a:latin typeface="Helvetica Neue"/>
                <a:ea typeface="Helvetica Neue"/>
                <a:cs typeface="Helvetica Neue"/>
              </a:defRPr>
            </a:pPr>
            <a:r>
              <a:rPr sz="1500" b="1">
                <a:solidFill>
                  <a:srgbClr val="E7B65E"/>
                </a:solidFill>
                <a:latin typeface="Helvetica Neue"/>
                <a:ea typeface="Helvetica Neue"/>
                <a:cs typeface="Helvetica Neue"/>
              </a:rPr>
              <a:t>1919–1939</a:t>
            </a:r>
          </a:p>
        </p:txBody>
      </p:sp>
      <p:sp>
        <p:nvSpPr>
          <p:cNvPr id="3" name="">
            <a:extLst xmlns:a="http://schemas.openxmlformats.org/drawingml/2006/main">
              <a:ext uri="{FF2B5EF4-FFF2-40B4-BE49-F238E27FC236}">
                <a16:creationId xmlns:a16="http://schemas.microsoft.com/office/drawing/2014/main" id="{2EEB0102-67FB-4DCA-BA29-215366DEB8DF}"/>
              </a:ext>
            </a:extLst>
          </p:cNvPr>
          <p:cNvSpPr>
            <a:spLocks xmlns:a="http://schemas.openxmlformats.org/drawingml/2006/main" noGrp="1"/>
          </p:cNvSpPr>
          <p:nvPr/>
        </p:nvSpPr>
        <p:spPr>
          <a:xfrm xmlns:a="http://schemas.openxmlformats.org/drawingml/2006/main">
            <a:off x="10963275" y="6210300"/>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BEC8CE"/>
                </a:solidFill>
                <a:latin typeface="Helvetica Neue"/>
                <a:ea typeface="Helvetica Neue"/>
                <a:cs typeface="Helvetica Neue"/>
              </a:defRPr>
            </a:pPr>
            <a:r>
              <a:rPr sz="1350" b="0">
                <a:solidFill>
                  <a:srgbClr val="BEC8CE"/>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32CAAB7B-49F9-4A22-A7CA-D16EFD7A4C7E}"/>
              </a:ext>
            </a:extLst>
          </p:cNvPr>
          <p:cNvSpPr>
            <a:spLocks xmlns:a="http://schemas.openxmlformats.org/drawingml/2006/main" noGrp="1"/>
          </p:cNvSpPr>
          <p:nvPr/>
        </p:nvSpPr>
        <p:spPr>
          <a:xfrm xmlns:a="http://schemas.openxmlformats.org/drawingml/2006/main">
            <a:off x="695325" y="2114550"/>
            <a:ext cx="2333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6525" b="1">
                <a:solidFill>
                  <a:srgbClr val="E7B65E"/>
                </a:solidFill>
                <a:latin typeface="Helvetica Neue"/>
                <a:ea typeface="Helvetica Neue"/>
                <a:cs typeface="Helvetica Neue"/>
              </a:defRPr>
            </a:pPr>
            <a:r>
              <a:rPr sz="6525" b="1">
                <a:solidFill>
                  <a:srgbClr val="E7B65E"/>
                </a:solidFill>
                <a:latin typeface="Helvetica Neue"/>
                <a:ea typeface="Helvetica Neue"/>
                <a:cs typeface="Helvetica Neue"/>
              </a:rPr>
              <a:t>1919</a:t>
            </a:r>
          </a:p>
        </p:txBody>
      </p:sp>
      <p:sp>
        <p:nvSpPr>
          <p:cNvPr id="5" name="">
            <a:extLst xmlns:a="http://schemas.openxmlformats.org/drawingml/2006/main">
              <a:ext uri="{FF2B5EF4-FFF2-40B4-BE49-F238E27FC236}">
                <a16:creationId xmlns:a16="http://schemas.microsoft.com/office/drawing/2014/main" id="{4E9C8247-CD9C-4254-93EC-6C88A40D3428}"/>
              </a:ext>
            </a:extLst>
          </p:cNvPr>
          <p:cNvSpPr>
            <a:spLocks xmlns:a="http://schemas.openxmlformats.org/drawingml/2006/main" noGrp="1"/>
          </p:cNvSpPr>
          <p:nvPr/>
        </p:nvSpPr>
        <p:spPr>
          <a:xfrm xmlns:a="http://schemas.openxmlformats.org/drawingml/2006/main">
            <a:off x="3381375" y="2000250"/>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E7B65E"/>
                </a:solidFill>
                <a:latin typeface="Helvetica Neue"/>
                <a:ea typeface="Helvetica Neue"/>
                <a:cs typeface="Helvetica Neue"/>
              </a:defRPr>
            </a:pPr>
            <a:r>
              <a:rPr sz="1875" b="1">
                <a:solidFill>
                  <a:srgbClr val="E7B65E"/>
                </a:solidFill>
                <a:latin typeface="Helvetica Neue"/>
                <a:ea typeface="Helvetica Neue"/>
                <a:cs typeface="Helvetica Neue"/>
              </a:rPr>
              <a:t>Unstable peace</a:t>
            </a:r>
          </a:p>
        </p:txBody>
      </p:sp>
      <p:sp>
        <p:nvSpPr>
          <p:cNvPr id="6" name="">
            <a:extLst xmlns:a="http://schemas.openxmlformats.org/drawingml/2006/main">
              <a:ext uri="{FF2B5EF4-FFF2-40B4-BE49-F238E27FC236}">
                <a16:creationId xmlns:a16="http://schemas.microsoft.com/office/drawing/2014/main" id="{1DED3060-711D-4D68-8083-995B247E9220}"/>
              </a:ext>
            </a:extLst>
          </p:cNvPr>
          <p:cNvSpPr>
            <a:spLocks xmlns:a="http://schemas.openxmlformats.org/drawingml/2006/main" noGrp="1"/>
          </p:cNvSpPr>
          <p:nvPr/>
        </p:nvSpPr>
        <p:spPr>
          <a:xfrm xmlns:a="http://schemas.openxmlformats.org/drawingml/2006/main">
            <a:off x="3381375" y="2409825"/>
            <a:ext cx="7620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F4F0E8"/>
                </a:solidFill>
                <a:latin typeface="Helvetica Neue"/>
                <a:ea typeface="Helvetica Neue"/>
                <a:cs typeface="Helvetica Neue"/>
              </a:defRPr>
            </a:pPr>
            <a:r>
              <a:rPr sz="1800" b="0">
                <a:solidFill>
                  <a:srgbClr val="F4F0E8"/>
                </a:solidFill>
                <a:latin typeface="Helvetica Neue"/>
                <a:ea typeface="Helvetica Neue"/>
                <a:cs typeface="Helvetica Neue"/>
              </a:rPr>
              <a:t>The Treaty of Versailles and the Great Depression deepened political and economic crisis in Europe.</a:t>
            </a:r>
          </a:p>
        </p:txBody>
      </p:sp>
      <p:sp>
        <p:nvSpPr>
          <p:cNvPr id="7" name="">
            <a:extLst xmlns:a="http://schemas.openxmlformats.org/drawingml/2006/main">
              <a:ext uri="{FF2B5EF4-FFF2-40B4-BE49-F238E27FC236}">
                <a16:creationId xmlns:a16="http://schemas.microsoft.com/office/drawing/2014/main" id="{189EEB19-FE9A-4030-B031-BD1317DFF076}"/>
              </a:ext>
            </a:extLst>
          </p:cNvPr>
          <p:cNvSpPr>
            <a:spLocks xmlns:a="http://schemas.openxmlformats.org/drawingml/2006/main" noGrp="1"/>
          </p:cNvSpPr>
          <p:nvPr/>
        </p:nvSpPr>
        <p:spPr>
          <a:xfrm xmlns:a="http://schemas.openxmlformats.org/drawingml/2006/main">
            <a:off x="3381375" y="3467100"/>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E7B65E"/>
                </a:solidFill>
                <a:latin typeface="Helvetica Neue"/>
                <a:ea typeface="Helvetica Neue"/>
                <a:cs typeface="Helvetica Neue"/>
              </a:defRPr>
            </a:pPr>
            <a:r>
              <a:rPr sz="1875" b="1">
                <a:solidFill>
                  <a:srgbClr val="E7B65E"/>
                </a:solidFill>
                <a:latin typeface="Helvetica Neue"/>
                <a:ea typeface="Helvetica Neue"/>
                <a:cs typeface="Helvetica Neue"/>
              </a:rPr>
              <a:t>Expansion and appeasement</a:t>
            </a:r>
          </a:p>
        </p:txBody>
      </p:sp>
      <p:sp>
        <p:nvSpPr>
          <p:cNvPr id="8" name="">
            <a:extLst xmlns:a="http://schemas.openxmlformats.org/drawingml/2006/main">
              <a:ext uri="{FF2B5EF4-FFF2-40B4-BE49-F238E27FC236}">
                <a16:creationId xmlns:a16="http://schemas.microsoft.com/office/drawing/2014/main" id="{DC06B243-A088-4FF8-BA1A-C4DA4AE296A5}"/>
              </a:ext>
            </a:extLst>
          </p:cNvPr>
          <p:cNvSpPr>
            <a:spLocks xmlns:a="http://schemas.openxmlformats.org/drawingml/2006/main" noGrp="1"/>
          </p:cNvSpPr>
          <p:nvPr/>
        </p:nvSpPr>
        <p:spPr>
          <a:xfrm xmlns:a="http://schemas.openxmlformats.org/drawingml/2006/main">
            <a:off x="3381375" y="3876675"/>
            <a:ext cx="7620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F4F0E8"/>
                </a:solidFill>
                <a:latin typeface="Helvetica Neue"/>
                <a:ea typeface="Helvetica Neue"/>
                <a:cs typeface="Helvetica Neue"/>
              </a:defRPr>
            </a:pPr>
            <a:r>
              <a:rPr sz="1800" b="0">
                <a:solidFill>
                  <a:srgbClr val="F4F0E8"/>
                </a:solidFill>
                <a:latin typeface="Helvetica Neue"/>
                <a:ea typeface="Helvetica Neue"/>
                <a:cs typeface="Helvetica Neue"/>
              </a:rPr>
              <a:t>Nazi Germany rearmed and seized territory. Britain and France tried to avert another war through concessions.</a:t>
            </a:r>
          </a:p>
        </p:txBody>
      </p:sp>
      <p:sp>
        <p:nvSpPr>
          <p:cNvPr id="9" name="">
            <a:extLst xmlns:a="http://schemas.openxmlformats.org/drawingml/2006/main">
              <a:ext uri="{FF2B5EF4-FFF2-40B4-BE49-F238E27FC236}">
                <a16:creationId xmlns:a16="http://schemas.microsoft.com/office/drawing/2014/main" id="{A76AB370-BD6C-418A-80C9-B01C3370BB5A}"/>
              </a:ext>
            </a:extLst>
          </p:cNvPr>
          <p:cNvSpPr>
            <a:spLocks xmlns:a="http://schemas.openxmlformats.org/drawingml/2006/main" noGrp="1"/>
          </p:cNvSpPr>
          <p:nvPr/>
        </p:nvSpPr>
        <p:spPr>
          <a:xfrm xmlns:a="http://schemas.openxmlformats.org/drawingml/2006/main">
            <a:off x="3381375" y="4933950"/>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E7B65E"/>
                </a:solidFill>
                <a:latin typeface="Helvetica Neue"/>
                <a:ea typeface="Helvetica Neue"/>
                <a:cs typeface="Helvetica Neue"/>
              </a:defRPr>
            </a:pPr>
            <a:r>
              <a:rPr sz="1875" b="1">
                <a:solidFill>
                  <a:srgbClr val="E7B65E"/>
                </a:solidFill>
                <a:latin typeface="Helvetica Neue"/>
                <a:ea typeface="Helvetica Neue"/>
                <a:cs typeface="Helvetica Neue"/>
              </a:rPr>
              <a:t>War in Asia</a:t>
            </a:r>
          </a:p>
        </p:txBody>
      </p:sp>
      <p:sp>
        <p:nvSpPr>
          <p:cNvPr id="10" name="">
            <a:extLst xmlns:a="http://schemas.openxmlformats.org/drawingml/2006/main">
              <a:ext uri="{FF2B5EF4-FFF2-40B4-BE49-F238E27FC236}">
                <a16:creationId xmlns:a16="http://schemas.microsoft.com/office/drawing/2014/main" id="{F88D3350-C3ED-46C8-B811-A8708B17A417}"/>
              </a:ext>
            </a:extLst>
          </p:cNvPr>
          <p:cNvSpPr>
            <a:spLocks xmlns:a="http://schemas.openxmlformats.org/drawingml/2006/main" noGrp="1"/>
          </p:cNvSpPr>
          <p:nvPr/>
        </p:nvSpPr>
        <p:spPr>
          <a:xfrm xmlns:a="http://schemas.openxmlformats.org/drawingml/2006/main">
            <a:off x="3381375" y="5343525"/>
            <a:ext cx="7620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F4F0E8"/>
                </a:solidFill>
                <a:latin typeface="Helvetica Neue"/>
                <a:ea typeface="Helvetica Neue"/>
                <a:cs typeface="Helvetica Neue"/>
              </a:defRPr>
            </a:pPr>
            <a:r>
              <a:rPr sz="1800" b="0">
                <a:solidFill>
                  <a:srgbClr val="F4F0E8"/>
                </a:solidFill>
                <a:latin typeface="Helvetica Neue"/>
                <a:ea typeface="Helvetica Neue"/>
                <a:cs typeface="Helvetica Neue"/>
              </a:rPr>
              <a:t>Japan’s invasion of China in 1937 widened a conflict already underway in East Asia.</a:t>
            </a:r>
          </a:p>
        </p:txBody>
      </p:sp>
    </p:spTree>
    <p:extLst>
      <p:ext uri="{BB962C8B-B14F-4D97-AF65-F5344CB8AC3E}">
        <p14:creationId xmlns:p14="http://schemas.microsoft.com/office/powerpoint/2010/main" val="1267281488"/>
      </p:ext>
    </p:extLst>
  </p:cSld>
</p:sld>
</file>

<file path=ppt/slides/slide3.xml><?xml version="1.0" encoding="utf-8"?>
<p:sld xmlns:p="http://schemas.openxmlformats.org/presentationml/2006/main">
  <p:cSld>
    <p:bg>
      <p:bgPr>
        <a:solidFill xmlns:a="http://schemas.openxmlformats.org/drawingml/2006/main">
          <a:srgbClr val="131E2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697CA7C-7E5E-42F2-8EE6-9D6689EF3D60}"/>
              </a:ext>
            </a:extLst>
          </p:cNvPr>
          <p:cNvSpPr>
            <a:spLocks xmlns:a="http://schemas.openxmlformats.org/drawingml/2006/main" noGrp="1"/>
          </p:cNvSpPr>
          <p:nvPr/>
        </p:nvSpPr>
        <p:spPr>
          <a:xfrm xmlns:a="http://schemas.openxmlformats.org/drawingml/2006/main">
            <a:off x="685800" y="4572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F4F0E8"/>
                </a:solidFill>
                <a:latin typeface="Helvetica Neue"/>
                <a:ea typeface="Helvetica Neue"/>
                <a:cs typeface="Helvetica Neue"/>
              </a:defRPr>
            </a:pPr>
            <a:r>
              <a:rPr sz="3000" b="1">
                <a:solidFill>
                  <a:srgbClr val="F4F0E8"/>
                </a:solidFill>
                <a:latin typeface="Helvetica Neue"/>
                <a:ea typeface="Helvetica Neue"/>
                <a:cs typeface="Helvetica Neue"/>
              </a:rPr>
              <a:t>Axis expansion in Europe</a:t>
            </a:r>
          </a:p>
        </p:txBody>
      </p:sp>
      <p:sp>
        <p:nvSpPr>
          <p:cNvPr id="2" name="">
            <a:extLst xmlns:a="http://schemas.openxmlformats.org/drawingml/2006/main">
              <a:ext uri="{FF2B5EF4-FFF2-40B4-BE49-F238E27FC236}">
                <a16:creationId xmlns:a16="http://schemas.microsoft.com/office/drawing/2014/main" id="{81F0CD80-01B9-40C6-91FE-D27DE5014707}"/>
              </a:ext>
            </a:extLst>
          </p:cNvPr>
          <p:cNvSpPr>
            <a:spLocks xmlns:a="http://schemas.openxmlformats.org/drawingml/2006/main" noGrp="1"/>
          </p:cNvSpPr>
          <p:nvPr/>
        </p:nvSpPr>
        <p:spPr>
          <a:xfrm xmlns:a="http://schemas.openxmlformats.org/drawingml/2006/main">
            <a:off x="685800" y="124777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E7B65E"/>
                </a:solidFill>
                <a:latin typeface="Helvetica Neue"/>
                <a:ea typeface="Helvetica Neue"/>
                <a:cs typeface="Helvetica Neue"/>
              </a:defRPr>
            </a:pPr>
            <a:r>
              <a:rPr sz="1500" b="1">
                <a:solidFill>
                  <a:srgbClr val="E7B65E"/>
                </a:solidFill>
                <a:latin typeface="Helvetica Neue"/>
                <a:ea typeface="Helvetica Neue"/>
                <a:cs typeface="Helvetica Neue"/>
              </a:rPr>
              <a:t>1939–1941</a:t>
            </a:r>
          </a:p>
        </p:txBody>
      </p:sp>
      <p:sp>
        <p:nvSpPr>
          <p:cNvPr id="3" name="">
            <a:extLst xmlns:a="http://schemas.openxmlformats.org/drawingml/2006/main">
              <a:ext uri="{FF2B5EF4-FFF2-40B4-BE49-F238E27FC236}">
                <a16:creationId xmlns:a16="http://schemas.microsoft.com/office/drawing/2014/main" id="{0A68AAF5-1404-45A3-A8F7-CED636C31E7B}"/>
              </a:ext>
            </a:extLst>
          </p:cNvPr>
          <p:cNvSpPr>
            <a:spLocks xmlns:a="http://schemas.openxmlformats.org/drawingml/2006/main" noGrp="1"/>
          </p:cNvSpPr>
          <p:nvPr/>
        </p:nvSpPr>
        <p:spPr>
          <a:xfrm xmlns:a="http://schemas.openxmlformats.org/drawingml/2006/main">
            <a:off x="10963275" y="6210300"/>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BEC8CE"/>
                </a:solidFill>
                <a:latin typeface="Helvetica Neue"/>
                <a:ea typeface="Helvetica Neue"/>
                <a:cs typeface="Helvetica Neue"/>
              </a:defRPr>
            </a:pPr>
            <a:r>
              <a:rPr sz="1350" b="0">
                <a:solidFill>
                  <a:srgbClr val="BEC8CE"/>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974C8F96-2C79-4FA9-ACE4-A5B8CC593A87}"/>
              </a:ext>
            </a:extLst>
          </p:cNvPr>
          <p:cNvSpPr>
            <a:spLocks xmlns:a="http://schemas.openxmlformats.org/drawingml/2006/main" noGrp="1"/>
          </p:cNvSpPr>
          <p:nvPr/>
        </p:nvSpPr>
        <p:spPr>
          <a:xfrm xmlns:a="http://schemas.openxmlformats.org/drawingml/2006/main">
            <a:off x="695325" y="2114550"/>
            <a:ext cx="2333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6525" b="1">
                <a:solidFill>
                  <a:srgbClr val="E7B65E"/>
                </a:solidFill>
                <a:latin typeface="Helvetica Neue"/>
                <a:ea typeface="Helvetica Neue"/>
                <a:cs typeface="Helvetica Neue"/>
              </a:defRPr>
            </a:pPr>
            <a:r>
              <a:rPr sz="6525" b="1">
                <a:solidFill>
                  <a:srgbClr val="E7B65E"/>
                </a:solidFill>
                <a:latin typeface="Helvetica Neue"/>
                <a:ea typeface="Helvetica Neue"/>
                <a:cs typeface="Helvetica Neue"/>
              </a:rPr>
              <a:t>1939</a:t>
            </a:r>
          </a:p>
        </p:txBody>
      </p:sp>
      <p:sp>
        <p:nvSpPr>
          <p:cNvPr id="5" name="">
            <a:extLst xmlns:a="http://schemas.openxmlformats.org/drawingml/2006/main">
              <a:ext uri="{FF2B5EF4-FFF2-40B4-BE49-F238E27FC236}">
                <a16:creationId xmlns:a16="http://schemas.microsoft.com/office/drawing/2014/main" id="{541BBF1A-56A7-4269-BA20-B8148056456A}"/>
              </a:ext>
            </a:extLst>
          </p:cNvPr>
          <p:cNvSpPr>
            <a:spLocks xmlns:a="http://schemas.openxmlformats.org/drawingml/2006/main" noGrp="1"/>
          </p:cNvSpPr>
          <p:nvPr/>
        </p:nvSpPr>
        <p:spPr>
          <a:xfrm xmlns:a="http://schemas.openxmlformats.org/drawingml/2006/main">
            <a:off x="3381375" y="2000250"/>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E7B65E"/>
                </a:solidFill>
                <a:latin typeface="Helvetica Neue"/>
                <a:ea typeface="Helvetica Neue"/>
                <a:cs typeface="Helvetica Neue"/>
              </a:defRPr>
            </a:pPr>
            <a:r>
              <a:rPr sz="1875" b="1">
                <a:solidFill>
                  <a:srgbClr val="E7B65E"/>
                </a:solidFill>
                <a:latin typeface="Helvetica Neue"/>
                <a:ea typeface="Helvetica Neue"/>
                <a:cs typeface="Helvetica Neue"/>
              </a:rPr>
              <a:t>September 1939</a:t>
            </a:r>
          </a:p>
        </p:txBody>
      </p:sp>
      <p:sp>
        <p:nvSpPr>
          <p:cNvPr id="6" name="">
            <a:extLst xmlns:a="http://schemas.openxmlformats.org/drawingml/2006/main">
              <a:ext uri="{FF2B5EF4-FFF2-40B4-BE49-F238E27FC236}">
                <a16:creationId xmlns:a16="http://schemas.microsoft.com/office/drawing/2014/main" id="{4BEBE1E9-151F-43D9-A457-A230F0863B56}"/>
              </a:ext>
            </a:extLst>
          </p:cNvPr>
          <p:cNvSpPr>
            <a:spLocks xmlns:a="http://schemas.openxmlformats.org/drawingml/2006/main" noGrp="1"/>
          </p:cNvSpPr>
          <p:nvPr/>
        </p:nvSpPr>
        <p:spPr>
          <a:xfrm xmlns:a="http://schemas.openxmlformats.org/drawingml/2006/main">
            <a:off x="3381375" y="2409825"/>
            <a:ext cx="7620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F4F0E8"/>
                </a:solidFill>
                <a:latin typeface="Helvetica Neue"/>
                <a:ea typeface="Helvetica Neue"/>
                <a:cs typeface="Helvetica Neue"/>
              </a:defRPr>
            </a:pPr>
            <a:r>
              <a:rPr sz="1800" b="0">
                <a:solidFill>
                  <a:srgbClr val="F4F0E8"/>
                </a:solidFill>
                <a:latin typeface="Helvetica Neue"/>
                <a:ea typeface="Helvetica Neue"/>
                <a:cs typeface="Helvetica Neue"/>
              </a:rPr>
              <a:t>Germany invaded Poland. Britain and France declared war on Germany.</a:t>
            </a:r>
          </a:p>
        </p:txBody>
      </p:sp>
      <p:sp>
        <p:nvSpPr>
          <p:cNvPr id="7" name="">
            <a:extLst xmlns:a="http://schemas.openxmlformats.org/drawingml/2006/main">
              <a:ext uri="{FF2B5EF4-FFF2-40B4-BE49-F238E27FC236}">
                <a16:creationId xmlns:a16="http://schemas.microsoft.com/office/drawing/2014/main" id="{741A2C51-ECDF-40CE-8476-5152210B26D8}"/>
              </a:ext>
            </a:extLst>
          </p:cNvPr>
          <p:cNvSpPr>
            <a:spLocks xmlns:a="http://schemas.openxmlformats.org/drawingml/2006/main" noGrp="1"/>
          </p:cNvSpPr>
          <p:nvPr/>
        </p:nvSpPr>
        <p:spPr>
          <a:xfrm xmlns:a="http://schemas.openxmlformats.org/drawingml/2006/main">
            <a:off x="3381375" y="3467100"/>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E7B65E"/>
                </a:solidFill>
                <a:latin typeface="Helvetica Neue"/>
                <a:ea typeface="Helvetica Neue"/>
                <a:cs typeface="Helvetica Neue"/>
              </a:defRPr>
            </a:pPr>
            <a:r>
              <a:rPr sz="1875" b="1">
                <a:solidFill>
                  <a:srgbClr val="E7B65E"/>
                </a:solidFill>
                <a:latin typeface="Helvetica Neue"/>
                <a:ea typeface="Helvetica Neue"/>
                <a:cs typeface="Helvetica Neue"/>
              </a:rPr>
              <a:t>1940</a:t>
            </a:r>
          </a:p>
        </p:txBody>
      </p:sp>
      <p:sp>
        <p:nvSpPr>
          <p:cNvPr id="8" name="">
            <a:extLst xmlns:a="http://schemas.openxmlformats.org/drawingml/2006/main">
              <a:ext uri="{FF2B5EF4-FFF2-40B4-BE49-F238E27FC236}">
                <a16:creationId xmlns:a16="http://schemas.microsoft.com/office/drawing/2014/main" id="{FEA17B85-4198-442E-B62D-38A44334895F}"/>
              </a:ext>
            </a:extLst>
          </p:cNvPr>
          <p:cNvSpPr>
            <a:spLocks xmlns:a="http://schemas.openxmlformats.org/drawingml/2006/main" noGrp="1"/>
          </p:cNvSpPr>
          <p:nvPr/>
        </p:nvSpPr>
        <p:spPr>
          <a:xfrm xmlns:a="http://schemas.openxmlformats.org/drawingml/2006/main">
            <a:off x="3381375" y="3876675"/>
            <a:ext cx="7620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F4F0E8"/>
                </a:solidFill>
                <a:latin typeface="Helvetica Neue"/>
                <a:ea typeface="Helvetica Neue"/>
                <a:cs typeface="Helvetica Neue"/>
              </a:defRPr>
            </a:pPr>
            <a:r>
              <a:rPr sz="1800" b="0">
                <a:solidFill>
                  <a:srgbClr val="F4F0E8"/>
                </a:solidFill>
                <a:latin typeface="Helvetica Neue"/>
                <a:ea typeface="Helvetica Neue"/>
                <a:cs typeface="Helvetica Neue"/>
              </a:rPr>
              <a:t>Germany conquered much of Western Europe. Britain resisted German air attacks.</a:t>
            </a:r>
          </a:p>
        </p:txBody>
      </p:sp>
      <p:sp>
        <p:nvSpPr>
          <p:cNvPr id="9" name="">
            <a:extLst xmlns:a="http://schemas.openxmlformats.org/drawingml/2006/main">
              <a:ext uri="{FF2B5EF4-FFF2-40B4-BE49-F238E27FC236}">
                <a16:creationId xmlns:a16="http://schemas.microsoft.com/office/drawing/2014/main" id="{9E838BD1-3E74-42DF-B04C-EE06EEBA5A0E}"/>
              </a:ext>
            </a:extLst>
          </p:cNvPr>
          <p:cNvSpPr>
            <a:spLocks xmlns:a="http://schemas.openxmlformats.org/drawingml/2006/main" noGrp="1"/>
          </p:cNvSpPr>
          <p:nvPr/>
        </p:nvSpPr>
        <p:spPr>
          <a:xfrm xmlns:a="http://schemas.openxmlformats.org/drawingml/2006/main">
            <a:off x="3381375" y="4933950"/>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E7B65E"/>
                </a:solidFill>
                <a:latin typeface="Helvetica Neue"/>
                <a:ea typeface="Helvetica Neue"/>
                <a:cs typeface="Helvetica Neue"/>
              </a:defRPr>
            </a:pPr>
            <a:r>
              <a:rPr sz="1875" b="1">
                <a:solidFill>
                  <a:srgbClr val="E7B65E"/>
                </a:solidFill>
                <a:latin typeface="Helvetica Neue"/>
                <a:ea typeface="Helvetica Neue"/>
                <a:cs typeface="Helvetica Neue"/>
              </a:rPr>
              <a:t>June 1941</a:t>
            </a:r>
          </a:p>
        </p:txBody>
      </p:sp>
      <p:sp>
        <p:nvSpPr>
          <p:cNvPr id="10" name="">
            <a:extLst xmlns:a="http://schemas.openxmlformats.org/drawingml/2006/main">
              <a:ext uri="{FF2B5EF4-FFF2-40B4-BE49-F238E27FC236}">
                <a16:creationId xmlns:a16="http://schemas.microsoft.com/office/drawing/2014/main" id="{296CE93A-A062-477C-9143-B855B51146E3}"/>
              </a:ext>
            </a:extLst>
          </p:cNvPr>
          <p:cNvSpPr>
            <a:spLocks xmlns:a="http://schemas.openxmlformats.org/drawingml/2006/main" noGrp="1"/>
          </p:cNvSpPr>
          <p:nvPr/>
        </p:nvSpPr>
        <p:spPr>
          <a:xfrm xmlns:a="http://schemas.openxmlformats.org/drawingml/2006/main">
            <a:off x="3381375" y="5343525"/>
            <a:ext cx="7620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F4F0E8"/>
                </a:solidFill>
                <a:latin typeface="Helvetica Neue"/>
                <a:ea typeface="Helvetica Neue"/>
                <a:cs typeface="Helvetica Neue"/>
              </a:defRPr>
            </a:pPr>
            <a:r>
              <a:rPr sz="1800" b="0">
                <a:solidFill>
                  <a:srgbClr val="F4F0E8"/>
                </a:solidFill>
                <a:latin typeface="Helvetica Neue"/>
                <a:ea typeface="Helvetica Neue"/>
                <a:cs typeface="Helvetica Neue"/>
              </a:rPr>
              <a:t>Germany invaded the Soviet Union, opening the vast Eastern Front.</a:t>
            </a:r>
          </a:p>
        </p:txBody>
      </p:sp>
    </p:spTree>
    <p:extLst>
      <p:ext uri="{BB962C8B-B14F-4D97-AF65-F5344CB8AC3E}">
        <p14:creationId xmlns:p14="http://schemas.microsoft.com/office/powerpoint/2010/main" val="1988610118"/>
      </p:ext>
    </p:extLst>
  </p:cSld>
</p:sld>
</file>

<file path=ppt/slides/slide4.xml><?xml version="1.0" encoding="utf-8"?>
<p:sld xmlns:p="http://schemas.openxmlformats.org/presentationml/2006/main">
  <p:cSld>
    <p:bg>
      <p:bgPr>
        <a:solidFill xmlns:a="http://schemas.openxmlformats.org/drawingml/2006/main">
          <a:srgbClr val="131E2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C154984-AB4E-4730-AE02-591270A4D7FB}"/>
              </a:ext>
            </a:extLst>
          </p:cNvPr>
          <p:cNvSpPr>
            <a:spLocks xmlns:a="http://schemas.openxmlformats.org/drawingml/2006/main" noGrp="1"/>
          </p:cNvSpPr>
          <p:nvPr/>
        </p:nvSpPr>
        <p:spPr>
          <a:xfrm xmlns:a="http://schemas.openxmlformats.org/drawingml/2006/main">
            <a:off x="685800" y="4572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F4F0E8"/>
                </a:solidFill>
                <a:latin typeface="Helvetica Neue"/>
                <a:ea typeface="Helvetica Neue"/>
                <a:cs typeface="Helvetica Neue"/>
              </a:defRPr>
            </a:pPr>
            <a:r>
              <a:rPr sz="3000" b="1">
                <a:solidFill>
                  <a:srgbClr val="F4F0E8"/>
                </a:solidFill>
                <a:latin typeface="Helvetica Neue"/>
                <a:ea typeface="Helvetica Neue"/>
                <a:cs typeface="Helvetica Neue"/>
              </a:rPr>
              <a:t>The war becomes global</a:t>
            </a:r>
          </a:p>
        </p:txBody>
      </p:sp>
      <p:sp>
        <p:nvSpPr>
          <p:cNvPr id="2" name="">
            <a:extLst xmlns:a="http://schemas.openxmlformats.org/drawingml/2006/main">
              <a:ext uri="{FF2B5EF4-FFF2-40B4-BE49-F238E27FC236}">
                <a16:creationId xmlns:a16="http://schemas.microsoft.com/office/drawing/2014/main" id="{F4B6B911-7F0C-4C96-9238-590A98720793}"/>
              </a:ext>
            </a:extLst>
          </p:cNvPr>
          <p:cNvSpPr>
            <a:spLocks xmlns:a="http://schemas.openxmlformats.org/drawingml/2006/main" noGrp="1"/>
          </p:cNvSpPr>
          <p:nvPr/>
        </p:nvSpPr>
        <p:spPr>
          <a:xfrm xmlns:a="http://schemas.openxmlformats.org/drawingml/2006/main">
            <a:off x="685800" y="124777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E7B65E"/>
                </a:solidFill>
                <a:latin typeface="Helvetica Neue"/>
                <a:ea typeface="Helvetica Neue"/>
                <a:cs typeface="Helvetica Neue"/>
              </a:defRPr>
            </a:pPr>
            <a:r>
              <a:rPr sz="1500" b="1">
                <a:solidFill>
                  <a:srgbClr val="E7B65E"/>
                </a:solidFill>
                <a:latin typeface="Helvetica Neue"/>
                <a:ea typeface="Helvetica Neue"/>
                <a:cs typeface="Helvetica Neue"/>
              </a:rPr>
              <a:t>1941</a:t>
            </a:r>
          </a:p>
        </p:txBody>
      </p:sp>
      <p:sp>
        <p:nvSpPr>
          <p:cNvPr id="3" name="">
            <a:extLst xmlns:a="http://schemas.openxmlformats.org/drawingml/2006/main">
              <a:ext uri="{FF2B5EF4-FFF2-40B4-BE49-F238E27FC236}">
                <a16:creationId xmlns:a16="http://schemas.microsoft.com/office/drawing/2014/main" id="{2B11BA1C-E013-4825-8FDF-8CBAFBBAA556}"/>
              </a:ext>
            </a:extLst>
          </p:cNvPr>
          <p:cNvSpPr>
            <a:spLocks xmlns:a="http://schemas.openxmlformats.org/drawingml/2006/main" noGrp="1"/>
          </p:cNvSpPr>
          <p:nvPr/>
        </p:nvSpPr>
        <p:spPr>
          <a:xfrm xmlns:a="http://schemas.openxmlformats.org/drawingml/2006/main">
            <a:off x="10963275" y="6210300"/>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BEC8CE"/>
                </a:solidFill>
                <a:latin typeface="Helvetica Neue"/>
                <a:ea typeface="Helvetica Neue"/>
                <a:cs typeface="Helvetica Neue"/>
              </a:defRPr>
            </a:pPr>
            <a:r>
              <a:rPr sz="1350" b="0">
                <a:solidFill>
                  <a:srgbClr val="BEC8CE"/>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5751C515-42F3-4F11-8C8D-A6AA5B63B415}"/>
              </a:ext>
            </a:extLst>
          </p:cNvPr>
          <p:cNvSpPr>
            <a:spLocks xmlns:a="http://schemas.openxmlformats.org/drawingml/2006/main" noGrp="1"/>
          </p:cNvSpPr>
          <p:nvPr/>
        </p:nvSpPr>
        <p:spPr>
          <a:xfrm xmlns:a="http://schemas.openxmlformats.org/drawingml/2006/main">
            <a:off x="695325" y="2114550"/>
            <a:ext cx="2333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6525" b="1">
                <a:solidFill>
                  <a:srgbClr val="E7B65E"/>
                </a:solidFill>
                <a:latin typeface="Helvetica Neue"/>
                <a:ea typeface="Helvetica Neue"/>
                <a:cs typeface="Helvetica Neue"/>
              </a:defRPr>
            </a:pPr>
            <a:r>
              <a:rPr sz="6525" b="1">
                <a:solidFill>
                  <a:srgbClr val="E7B65E"/>
                </a:solidFill>
                <a:latin typeface="Helvetica Neue"/>
                <a:ea typeface="Helvetica Neue"/>
                <a:cs typeface="Helvetica Neue"/>
              </a:rPr>
              <a:t>1941</a:t>
            </a:r>
          </a:p>
        </p:txBody>
      </p:sp>
      <p:sp>
        <p:nvSpPr>
          <p:cNvPr id="5" name="">
            <a:extLst xmlns:a="http://schemas.openxmlformats.org/drawingml/2006/main">
              <a:ext uri="{FF2B5EF4-FFF2-40B4-BE49-F238E27FC236}">
                <a16:creationId xmlns:a16="http://schemas.microsoft.com/office/drawing/2014/main" id="{174EE272-9981-4D87-B44B-E2E62915C7E9}"/>
              </a:ext>
            </a:extLst>
          </p:cNvPr>
          <p:cNvSpPr>
            <a:spLocks xmlns:a="http://schemas.openxmlformats.org/drawingml/2006/main" noGrp="1"/>
          </p:cNvSpPr>
          <p:nvPr/>
        </p:nvSpPr>
        <p:spPr>
          <a:xfrm xmlns:a="http://schemas.openxmlformats.org/drawingml/2006/main">
            <a:off x="3381375" y="2000250"/>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E7B65E"/>
                </a:solidFill>
                <a:latin typeface="Helvetica Neue"/>
                <a:ea typeface="Helvetica Neue"/>
                <a:cs typeface="Helvetica Neue"/>
              </a:defRPr>
            </a:pPr>
            <a:r>
              <a:rPr sz="1875" b="1">
                <a:solidFill>
                  <a:srgbClr val="E7B65E"/>
                </a:solidFill>
                <a:latin typeface="Helvetica Neue"/>
                <a:ea typeface="Helvetica Neue"/>
                <a:cs typeface="Helvetica Neue"/>
              </a:rPr>
              <a:t>Pacific war</a:t>
            </a:r>
          </a:p>
        </p:txBody>
      </p:sp>
      <p:sp>
        <p:nvSpPr>
          <p:cNvPr id="6" name="">
            <a:extLst xmlns:a="http://schemas.openxmlformats.org/drawingml/2006/main">
              <a:ext uri="{FF2B5EF4-FFF2-40B4-BE49-F238E27FC236}">
                <a16:creationId xmlns:a16="http://schemas.microsoft.com/office/drawing/2014/main" id="{9E5638E0-82C9-497A-AD7A-8BB1E05F4BC8}"/>
              </a:ext>
            </a:extLst>
          </p:cNvPr>
          <p:cNvSpPr>
            <a:spLocks xmlns:a="http://schemas.openxmlformats.org/drawingml/2006/main" noGrp="1"/>
          </p:cNvSpPr>
          <p:nvPr/>
        </p:nvSpPr>
        <p:spPr>
          <a:xfrm xmlns:a="http://schemas.openxmlformats.org/drawingml/2006/main">
            <a:off x="3381375" y="2409825"/>
            <a:ext cx="7620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F4F0E8"/>
                </a:solidFill>
                <a:latin typeface="Helvetica Neue"/>
                <a:ea typeface="Helvetica Neue"/>
                <a:cs typeface="Helvetica Neue"/>
              </a:defRPr>
            </a:pPr>
            <a:r>
              <a:rPr sz="1800" b="0">
                <a:solidFill>
                  <a:srgbClr val="F4F0E8"/>
                </a:solidFill>
                <a:latin typeface="Helvetica Neue"/>
                <a:ea typeface="Helvetica Neue"/>
                <a:cs typeface="Helvetica Neue"/>
              </a:rPr>
              <a:t>Japan continued expanding across East and Southeast Asia.</a:t>
            </a:r>
          </a:p>
        </p:txBody>
      </p:sp>
      <p:sp>
        <p:nvSpPr>
          <p:cNvPr id="7" name="">
            <a:extLst xmlns:a="http://schemas.openxmlformats.org/drawingml/2006/main">
              <a:ext uri="{FF2B5EF4-FFF2-40B4-BE49-F238E27FC236}">
                <a16:creationId xmlns:a16="http://schemas.microsoft.com/office/drawing/2014/main" id="{DA6EDA32-0DED-491D-A027-20E804F9220B}"/>
              </a:ext>
            </a:extLst>
          </p:cNvPr>
          <p:cNvSpPr>
            <a:spLocks xmlns:a="http://schemas.openxmlformats.org/drawingml/2006/main" noGrp="1"/>
          </p:cNvSpPr>
          <p:nvPr/>
        </p:nvSpPr>
        <p:spPr>
          <a:xfrm xmlns:a="http://schemas.openxmlformats.org/drawingml/2006/main">
            <a:off x="3381375" y="3467100"/>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E7B65E"/>
                </a:solidFill>
                <a:latin typeface="Helvetica Neue"/>
                <a:ea typeface="Helvetica Neue"/>
                <a:cs typeface="Helvetica Neue"/>
              </a:defRPr>
            </a:pPr>
            <a:r>
              <a:rPr sz="1875" b="1">
                <a:solidFill>
                  <a:srgbClr val="E7B65E"/>
                </a:solidFill>
                <a:latin typeface="Helvetica Neue"/>
                <a:ea typeface="Helvetica Neue"/>
                <a:cs typeface="Helvetica Neue"/>
              </a:rPr>
              <a:t>Pearl Harbor</a:t>
            </a:r>
          </a:p>
        </p:txBody>
      </p:sp>
      <p:sp>
        <p:nvSpPr>
          <p:cNvPr id="8" name="">
            <a:extLst xmlns:a="http://schemas.openxmlformats.org/drawingml/2006/main">
              <a:ext uri="{FF2B5EF4-FFF2-40B4-BE49-F238E27FC236}">
                <a16:creationId xmlns:a16="http://schemas.microsoft.com/office/drawing/2014/main" id="{245FFA4E-024B-4B21-9608-F0F820EC795C}"/>
              </a:ext>
            </a:extLst>
          </p:cNvPr>
          <p:cNvSpPr>
            <a:spLocks xmlns:a="http://schemas.openxmlformats.org/drawingml/2006/main" noGrp="1"/>
          </p:cNvSpPr>
          <p:nvPr/>
        </p:nvSpPr>
        <p:spPr>
          <a:xfrm xmlns:a="http://schemas.openxmlformats.org/drawingml/2006/main">
            <a:off x="3381375" y="3876675"/>
            <a:ext cx="7620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F4F0E8"/>
                </a:solidFill>
                <a:latin typeface="Helvetica Neue"/>
                <a:ea typeface="Helvetica Neue"/>
                <a:cs typeface="Helvetica Neue"/>
              </a:defRPr>
            </a:pPr>
            <a:r>
              <a:rPr sz="1800" b="0">
                <a:solidFill>
                  <a:srgbClr val="F4F0E8"/>
                </a:solidFill>
                <a:latin typeface="Helvetica Neue"/>
                <a:ea typeface="Helvetica Neue"/>
                <a:cs typeface="Helvetica Neue"/>
              </a:rPr>
              <a:t>Japan attacked the US naval base on 7 December. The United States entered the war.</a:t>
            </a:r>
          </a:p>
        </p:txBody>
      </p:sp>
      <p:sp>
        <p:nvSpPr>
          <p:cNvPr id="9" name="">
            <a:extLst xmlns:a="http://schemas.openxmlformats.org/drawingml/2006/main">
              <a:ext uri="{FF2B5EF4-FFF2-40B4-BE49-F238E27FC236}">
                <a16:creationId xmlns:a16="http://schemas.microsoft.com/office/drawing/2014/main" id="{D54AB901-EF2C-40BA-A743-CD67803B85A8}"/>
              </a:ext>
            </a:extLst>
          </p:cNvPr>
          <p:cNvSpPr>
            <a:spLocks xmlns:a="http://schemas.openxmlformats.org/drawingml/2006/main" noGrp="1"/>
          </p:cNvSpPr>
          <p:nvPr/>
        </p:nvSpPr>
        <p:spPr>
          <a:xfrm xmlns:a="http://schemas.openxmlformats.org/drawingml/2006/main">
            <a:off x="3381375" y="4933950"/>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E7B65E"/>
                </a:solidFill>
                <a:latin typeface="Helvetica Neue"/>
                <a:ea typeface="Helvetica Neue"/>
                <a:cs typeface="Helvetica Neue"/>
              </a:defRPr>
            </a:pPr>
            <a:r>
              <a:rPr sz="1875" b="1">
                <a:solidFill>
                  <a:srgbClr val="E7B65E"/>
                </a:solidFill>
                <a:latin typeface="Helvetica Neue"/>
                <a:ea typeface="Helvetica Neue"/>
                <a:cs typeface="Helvetica Neue"/>
              </a:rPr>
              <a:t>A worldwide conflict</a:t>
            </a:r>
          </a:p>
        </p:txBody>
      </p:sp>
      <p:sp>
        <p:nvSpPr>
          <p:cNvPr id="10" name="">
            <a:extLst xmlns:a="http://schemas.openxmlformats.org/drawingml/2006/main">
              <a:ext uri="{FF2B5EF4-FFF2-40B4-BE49-F238E27FC236}">
                <a16:creationId xmlns:a16="http://schemas.microsoft.com/office/drawing/2014/main" id="{8E06D60F-8292-4C43-A4A8-6033CE66AB1B}"/>
              </a:ext>
            </a:extLst>
          </p:cNvPr>
          <p:cNvSpPr>
            <a:spLocks xmlns:a="http://schemas.openxmlformats.org/drawingml/2006/main" noGrp="1"/>
          </p:cNvSpPr>
          <p:nvPr/>
        </p:nvSpPr>
        <p:spPr>
          <a:xfrm xmlns:a="http://schemas.openxmlformats.org/drawingml/2006/main">
            <a:off x="3381375" y="5343525"/>
            <a:ext cx="7620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F4F0E8"/>
                </a:solidFill>
                <a:latin typeface="Helvetica Neue"/>
                <a:ea typeface="Helvetica Neue"/>
                <a:cs typeface="Helvetica Neue"/>
              </a:defRPr>
            </a:pPr>
            <a:r>
              <a:rPr sz="1800" b="0">
                <a:solidFill>
                  <a:srgbClr val="F4F0E8"/>
                </a:solidFill>
                <a:latin typeface="Helvetica Neue"/>
                <a:ea typeface="Helvetica Neue"/>
                <a:cs typeface="Helvetica Neue"/>
              </a:rPr>
              <a:t>Germany and Italy declared war on the United States days later.</a:t>
            </a:r>
          </a:p>
        </p:txBody>
      </p:sp>
    </p:spTree>
    <p:extLst>
      <p:ext uri="{BB962C8B-B14F-4D97-AF65-F5344CB8AC3E}">
        <p14:creationId xmlns:p14="http://schemas.microsoft.com/office/powerpoint/2010/main" val="1915059869"/>
      </p:ext>
    </p:extLst>
  </p:cSld>
</p:sld>
</file>

<file path=ppt/slides/slide5.xml><?xml version="1.0" encoding="utf-8"?>
<p:sld xmlns:p="http://schemas.openxmlformats.org/presentationml/2006/main">
  <p:cSld>
    <p:bg>
      <p:bgPr>
        <a:solidFill xmlns:a="http://schemas.openxmlformats.org/drawingml/2006/main">
          <a:srgbClr val="131E2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DD122E4-2079-459B-8940-76AC6C44843C}"/>
              </a:ext>
            </a:extLst>
          </p:cNvPr>
          <p:cNvSpPr>
            <a:spLocks xmlns:a="http://schemas.openxmlformats.org/drawingml/2006/main" noGrp="1"/>
          </p:cNvSpPr>
          <p:nvPr/>
        </p:nvSpPr>
        <p:spPr>
          <a:xfrm xmlns:a="http://schemas.openxmlformats.org/drawingml/2006/main">
            <a:off x="685800" y="4572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F4F0E8"/>
                </a:solidFill>
                <a:latin typeface="Helvetica Neue"/>
                <a:ea typeface="Helvetica Neue"/>
                <a:cs typeface="Helvetica Neue"/>
              </a:defRPr>
            </a:pPr>
            <a:r>
              <a:rPr sz="3000" b="1">
                <a:solidFill>
                  <a:srgbClr val="F4F0E8"/>
                </a:solidFill>
                <a:latin typeface="Helvetica Neue"/>
                <a:ea typeface="Helvetica Neue"/>
                <a:cs typeface="Helvetica Neue"/>
              </a:rPr>
              <a:t>Turning points</a:t>
            </a:r>
          </a:p>
        </p:txBody>
      </p:sp>
      <p:sp>
        <p:nvSpPr>
          <p:cNvPr id="2" name="">
            <a:extLst xmlns:a="http://schemas.openxmlformats.org/drawingml/2006/main">
              <a:ext uri="{FF2B5EF4-FFF2-40B4-BE49-F238E27FC236}">
                <a16:creationId xmlns:a16="http://schemas.microsoft.com/office/drawing/2014/main" id="{656271C6-751F-4850-AD11-F6B1F25861E2}"/>
              </a:ext>
            </a:extLst>
          </p:cNvPr>
          <p:cNvSpPr>
            <a:spLocks xmlns:a="http://schemas.openxmlformats.org/drawingml/2006/main" noGrp="1"/>
          </p:cNvSpPr>
          <p:nvPr/>
        </p:nvSpPr>
        <p:spPr>
          <a:xfrm xmlns:a="http://schemas.openxmlformats.org/drawingml/2006/main">
            <a:off x="685800" y="124777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E7B65E"/>
                </a:solidFill>
                <a:latin typeface="Helvetica Neue"/>
                <a:ea typeface="Helvetica Neue"/>
                <a:cs typeface="Helvetica Neue"/>
              </a:defRPr>
            </a:pPr>
            <a:r>
              <a:rPr sz="1500" b="1">
                <a:solidFill>
                  <a:srgbClr val="E7B65E"/>
                </a:solidFill>
                <a:latin typeface="Helvetica Neue"/>
                <a:ea typeface="Helvetica Neue"/>
                <a:cs typeface="Helvetica Neue"/>
              </a:rPr>
              <a:t>1942–1943</a:t>
            </a:r>
          </a:p>
        </p:txBody>
      </p:sp>
      <p:sp>
        <p:nvSpPr>
          <p:cNvPr id="3" name="">
            <a:extLst xmlns:a="http://schemas.openxmlformats.org/drawingml/2006/main">
              <a:ext uri="{FF2B5EF4-FFF2-40B4-BE49-F238E27FC236}">
                <a16:creationId xmlns:a16="http://schemas.microsoft.com/office/drawing/2014/main" id="{C1F86241-8939-4816-B73E-0145649A4516}"/>
              </a:ext>
            </a:extLst>
          </p:cNvPr>
          <p:cNvSpPr>
            <a:spLocks xmlns:a="http://schemas.openxmlformats.org/drawingml/2006/main" noGrp="1"/>
          </p:cNvSpPr>
          <p:nvPr/>
        </p:nvSpPr>
        <p:spPr>
          <a:xfrm xmlns:a="http://schemas.openxmlformats.org/drawingml/2006/main">
            <a:off x="10963275" y="6210300"/>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BEC8CE"/>
                </a:solidFill>
                <a:latin typeface="Helvetica Neue"/>
                <a:ea typeface="Helvetica Neue"/>
                <a:cs typeface="Helvetica Neue"/>
              </a:defRPr>
            </a:pPr>
            <a:r>
              <a:rPr sz="1350" b="0">
                <a:solidFill>
                  <a:srgbClr val="BEC8CE"/>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5AAA22D8-10AB-42A5-BE05-658AAA525DBD}"/>
              </a:ext>
            </a:extLst>
          </p:cNvPr>
          <p:cNvSpPr>
            <a:spLocks xmlns:a="http://schemas.openxmlformats.org/drawingml/2006/main" noGrp="1"/>
          </p:cNvSpPr>
          <p:nvPr/>
        </p:nvSpPr>
        <p:spPr>
          <a:xfrm xmlns:a="http://schemas.openxmlformats.org/drawingml/2006/main">
            <a:off x="695325" y="2114550"/>
            <a:ext cx="2333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6525" b="1">
                <a:solidFill>
                  <a:srgbClr val="E7B65E"/>
                </a:solidFill>
                <a:latin typeface="Helvetica Neue"/>
                <a:ea typeface="Helvetica Neue"/>
                <a:cs typeface="Helvetica Neue"/>
              </a:defRPr>
            </a:pPr>
            <a:r>
              <a:rPr sz="6525" b="1">
                <a:solidFill>
                  <a:srgbClr val="E7B65E"/>
                </a:solidFill>
                <a:latin typeface="Helvetica Neue"/>
                <a:ea typeface="Helvetica Neue"/>
                <a:cs typeface="Helvetica Neue"/>
              </a:rPr>
              <a:t>1942</a:t>
            </a:r>
          </a:p>
        </p:txBody>
      </p:sp>
      <p:sp>
        <p:nvSpPr>
          <p:cNvPr id="5" name="">
            <a:extLst xmlns:a="http://schemas.openxmlformats.org/drawingml/2006/main">
              <a:ext uri="{FF2B5EF4-FFF2-40B4-BE49-F238E27FC236}">
                <a16:creationId xmlns:a16="http://schemas.microsoft.com/office/drawing/2014/main" id="{C210A83E-88F9-468D-809D-3E7A2B36D1EA}"/>
              </a:ext>
            </a:extLst>
          </p:cNvPr>
          <p:cNvSpPr>
            <a:spLocks xmlns:a="http://schemas.openxmlformats.org/drawingml/2006/main" noGrp="1"/>
          </p:cNvSpPr>
          <p:nvPr/>
        </p:nvSpPr>
        <p:spPr>
          <a:xfrm xmlns:a="http://schemas.openxmlformats.org/drawingml/2006/main">
            <a:off x="3381375" y="2000250"/>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E7B65E"/>
                </a:solidFill>
                <a:latin typeface="Helvetica Neue"/>
                <a:ea typeface="Helvetica Neue"/>
                <a:cs typeface="Helvetica Neue"/>
              </a:defRPr>
            </a:pPr>
            <a:r>
              <a:rPr sz="1875" b="1">
                <a:solidFill>
                  <a:srgbClr val="E7B65E"/>
                </a:solidFill>
                <a:latin typeface="Helvetica Neue"/>
                <a:ea typeface="Helvetica Neue"/>
                <a:cs typeface="Helvetica Neue"/>
              </a:rPr>
              <a:t>Midway</a:t>
            </a:r>
          </a:p>
        </p:txBody>
      </p:sp>
      <p:sp>
        <p:nvSpPr>
          <p:cNvPr id="6" name="">
            <a:extLst xmlns:a="http://schemas.openxmlformats.org/drawingml/2006/main">
              <a:ext uri="{FF2B5EF4-FFF2-40B4-BE49-F238E27FC236}">
                <a16:creationId xmlns:a16="http://schemas.microsoft.com/office/drawing/2014/main" id="{FEC2ECDD-D047-4674-9729-50013CC676EA}"/>
              </a:ext>
            </a:extLst>
          </p:cNvPr>
          <p:cNvSpPr>
            <a:spLocks xmlns:a="http://schemas.openxmlformats.org/drawingml/2006/main" noGrp="1"/>
          </p:cNvSpPr>
          <p:nvPr/>
        </p:nvSpPr>
        <p:spPr>
          <a:xfrm xmlns:a="http://schemas.openxmlformats.org/drawingml/2006/main">
            <a:off x="3381375" y="2409825"/>
            <a:ext cx="7620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F4F0E8"/>
                </a:solidFill>
                <a:latin typeface="Helvetica Neue"/>
                <a:ea typeface="Helvetica Neue"/>
                <a:cs typeface="Helvetica Neue"/>
              </a:defRPr>
            </a:pPr>
            <a:r>
              <a:rPr sz="1800" b="0">
                <a:solidFill>
                  <a:srgbClr val="F4F0E8"/>
                </a:solidFill>
                <a:latin typeface="Helvetica Neue"/>
                <a:ea typeface="Helvetica Neue"/>
                <a:cs typeface="Helvetica Neue"/>
              </a:rPr>
              <a:t>US forces defeated a Japanese carrier fleet in June 1942 and gained momentum in the Pacific.</a:t>
            </a:r>
          </a:p>
        </p:txBody>
      </p:sp>
      <p:sp>
        <p:nvSpPr>
          <p:cNvPr id="7" name="">
            <a:extLst xmlns:a="http://schemas.openxmlformats.org/drawingml/2006/main">
              <a:ext uri="{FF2B5EF4-FFF2-40B4-BE49-F238E27FC236}">
                <a16:creationId xmlns:a16="http://schemas.microsoft.com/office/drawing/2014/main" id="{2C4F35DC-B2CF-402B-9B3C-5891797CE938}"/>
              </a:ext>
            </a:extLst>
          </p:cNvPr>
          <p:cNvSpPr>
            <a:spLocks xmlns:a="http://schemas.openxmlformats.org/drawingml/2006/main" noGrp="1"/>
          </p:cNvSpPr>
          <p:nvPr/>
        </p:nvSpPr>
        <p:spPr>
          <a:xfrm xmlns:a="http://schemas.openxmlformats.org/drawingml/2006/main">
            <a:off x="3381375" y="3467100"/>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E7B65E"/>
                </a:solidFill>
                <a:latin typeface="Helvetica Neue"/>
                <a:ea typeface="Helvetica Neue"/>
                <a:cs typeface="Helvetica Neue"/>
              </a:defRPr>
            </a:pPr>
            <a:r>
              <a:rPr sz="1875" b="1">
                <a:solidFill>
                  <a:srgbClr val="E7B65E"/>
                </a:solidFill>
                <a:latin typeface="Helvetica Neue"/>
                <a:ea typeface="Helvetica Neue"/>
                <a:cs typeface="Helvetica Neue"/>
              </a:rPr>
              <a:t>Stalingrad</a:t>
            </a:r>
          </a:p>
        </p:txBody>
      </p:sp>
      <p:sp>
        <p:nvSpPr>
          <p:cNvPr id="8" name="">
            <a:extLst xmlns:a="http://schemas.openxmlformats.org/drawingml/2006/main">
              <a:ext uri="{FF2B5EF4-FFF2-40B4-BE49-F238E27FC236}">
                <a16:creationId xmlns:a16="http://schemas.microsoft.com/office/drawing/2014/main" id="{D102EA03-5705-4ACF-AECB-A26C2B47787F}"/>
              </a:ext>
            </a:extLst>
          </p:cNvPr>
          <p:cNvSpPr>
            <a:spLocks xmlns:a="http://schemas.openxmlformats.org/drawingml/2006/main" noGrp="1"/>
          </p:cNvSpPr>
          <p:nvPr/>
        </p:nvSpPr>
        <p:spPr>
          <a:xfrm xmlns:a="http://schemas.openxmlformats.org/drawingml/2006/main">
            <a:off x="3381375" y="3876675"/>
            <a:ext cx="7620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F4F0E8"/>
                </a:solidFill>
                <a:latin typeface="Helvetica Neue"/>
                <a:ea typeface="Helvetica Neue"/>
                <a:cs typeface="Helvetica Neue"/>
              </a:defRPr>
            </a:pPr>
            <a:r>
              <a:rPr sz="1800" b="0">
                <a:solidFill>
                  <a:srgbClr val="F4F0E8"/>
                </a:solidFill>
                <a:latin typeface="Helvetica Neue"/>
                <a:ea typeface="Helvetica Neue"/>
                <a:cs typeface="Helvetica Neue"/>
              </a:rPr>
              <a:t>The Soviet victory in February 1943 ended Germany’s offensive momentum on the Eastern Front.</a:t>
            </a:r>
          </a:p>
        </p:txBody>
      </p:sp>
      <p:sp>
        <p:nvSpPr>
          <p:cNvPr id="9" name="">
            <a:extLst xmlns:a="http://schemas.openxmlformats.org/drawingml/2006/main">
              <a:ext uri="{FF2B5EF4-FFF2-40B4-BE49-F238E27FC236}">
                <a16:creationId xmlns:a16="http://schemas.microsoft.com/office/drawing/2014/main" id="{7283AAE5-86F7-471C-A63E-CEF002D4F6EB}"/>
              </a:ext>
            </a:extLst>
          </p:cNvPr>
          <p:cNvSpPr>
            <a:spLocks xmlns:a="http://schemas.openxmlformats.org/drawingml/2006/main" noGrp="1"/>
          </p:cNvSpPr>
          <p:nvPr/>
        </p:nvSpPr>
        <p:spPr>
          <a:xfrm xmlns:a="http://schemas.openxmlformats.org/drawingml/2006/main">
            <a:off x="3381375" y="4933950"/>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E7B65E"/>
                </a:solidFill>
                <a:latin typeface="Helvetica Neue"/>
                <a:ea typeface="Helvetica Neue"/>
                <a:cs typeface="Helvetica Neue"/>
              </a:defRPr>
            </a:pPr>
            <a:r>
              <a:rPr sz="1875" b="1">
                <a:solidFill>
                  <a:srgbClr val="E7B65E"/>
                </a:solidFill>
                <a:latin typeface="Helvetica Neue"/>
                <a:ea typeface="Helvetica Neue"/>
                <a:cs typeface="Helvetica Neue"/>
              </a:rPr>
              <a:t>North Africa and Italy</a:t>
            </a:r>
          </a:p>
        </p:txBody>
      </p:sp>
      <p:sp>
        <p:nvSpPr>
          <p:cNvPr id="10" name="">
            <a:extLst xmlns:a="http://schemas.openxmlformats.org/drawingml/2006/main">
              <a:ext uri="{FF2B5EF4-FFF2-40B4-BE49-F238E27FC236}">
                <a16:creationId xmlns:a16="http://schemas.microsoft.com/office/drawing/2014/main" id="{536C8725-D8BA-4B33-94AA-D34720B8A4DD}"/>
              </a:ext>
            </a:extLst>
          </p:cNvPr>
          <p:cNvSpPr>
            <a:spLocks xmlns:a="http://schemas.openxmlformats.org/drawingml/2006/main" noGrp="1"/>
          </p:cNvSpPr>
          <p:nvPr/>
        </p:nvSpPr>
        <p:spPr>
          <a:xfrm xmlns:a="http://schemas.openxmlformats.org/drawingml/2006/main">
            <a:off x="3381375" y="5343525"/>
            <a:ext cx="7620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F4F0E8"/>
                </a:solidFill>
                <a:latin typeface="Helvetica Neue"/>
                <a:ea typeface="Helvetica Neue"/>
                <a:cs typeface="Helvetica Neue"/>
              </a:defRPr>
            </a:pPr>
            <a:r>
              <a:rPr sz="1800" b="0">
                <a:solidFill>
                  <a:srgbClr val="F4F0E8"/>
                </a:solidFill>
                <a:latin typeface="Helvetica Neue"/>
                <a:ea typeface="Helvetica Neue"/>
                <a:cs typeface="Helvetica Neue"/>
              </a:rPr>
              <a:t>Allied advances opened a route into southern Europe.</a:t>
            </a:r>
          </a:p>
        </p:txBody>
      </p:sp>
    </p:spTree>
    <p:extLst>
      <p:ext uri="{BB962C8B-B14F-4D97-AF65-F5344CB8AC3E}">
        <p14:creationId xmlns:p14="http://schemas.microsoft.com/office/powerpoint/2010/main" val="52103951"/>
      </p:ext>
    </p:extLst>
  </p:cSld>
</p:sld>
</file>

<file path=ppt/slides/slide6.xml><?xml version="1.0" encoding="utf-8"?>
<p:sld xmlns:p="http://schemas.openxmlformats.org/presentationml/2006/main">
  <p:cSld>
    <p:bg>
      <p:bgPr>
        <a:solidFill xmlns:a="http://schemas.openxmlformats.org/drawingml/2006/main">
          <a:srgbClr val="131E2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A74AA1-24EE-4BB4-AD79-924D3E32CE80}"/>
              </a:ext>
            </a:extLst>
          </p:cNvPr>
          <p:cNvSpPr>
            <a:spLocks xmlns:a="http://schemas.openxmlformats.org/drawingml/2006/main" noGrp="1"/>
          </p:cNvSpPr>
          <p:nvPr/>
        </p:nvSpPr>
        <p:spPr>
          <a:xfrm xmlns:a="http://schemas.openxmlformats.org/drawingml/2006/main">
            <a:off x="685800" y="4572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F4F0E8"/>
                </a:solidFill>
                <a:latin typeface="Helvetica Neue"/>
                <a:ea typeface="Helvetica Neue"/>
                <a:cs typeface="Helvetica Neue"/>
              </a:defRPr>
            </a:pPr>
            <a:r>
              <a:rPr sz="3000" b="1">
                <a:solidFill>
                  <a:srgbClr val="F4F0E8"/>
                </a:solidFill>
                <a:latin typeface="Helvetica Neue"/>
                <a:ea typeface="Helvetica Neue"/>
                <a:cs typeface="Helvetica Neue"/>
              </a:rPr>
              <a:t>The Holocaust</a:t>
            </a:r>
          </a:p>
        </p:txBody>
      </p:sp>
      <p:sp>
        <p:nvSpPr>
          <p:cNvPr id="2" name="">
            <a:extLst xmlns:a="http://schemas.openxmlformats.org/drawingml/2006/main">
              <a:ext uri="{FF2B5EF4-FFF2-40B4-BE49-F238E27FC236}">
                <a16:creationId xmlns:a16="http://schemas.microsoft.com/office/drawing/2014/main" id="{4A46C239-0068-45E7-98B8-3FB3690078C2}"/>
              </a:ext>
            </a:extLst>
          </p:cNvPr>
          <p:cNvSpPr>
            <a:spLocks xmlns:a="http://schemas.openxmlformats.org/drawingml/2006/main" noGrp="1"/>
          </p:cNvSpPr>
          <p:nvPr/>
        </p:nvSpPr>
        <p:spPr>
          <a:xfrm xmlns:a="http://schemas.openxmlformats.org/drawingml/2006/main">
            <a:off x="685800" y="124777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E7B65E"/>
                </a:solidFill>
                <a:latin typeface="Helvetica Neue"/>
                <a:ea typeface="Helvetica Neue"/>
                <a:cs typeface="Helvetica Neue"/>
              </a:defRPr>
            </a:pPr>
            <a:r>
              <a:rPr sz="1500" b="1">
                <a:solidFill>
                  <a:srgbClr val="E7B65E"/>
                </a:solidFill>
                <a:latin typeface="Helvetica Neue"/>
                <a:ea typeface="Helvetica Neue"/>
                <a:cs typeface="Helvetica Neue"/>
              </a:rPr>
              <a:t>1933–1945</a:t>
            </a:r>
          </a:p>
        </p:txBody>
      </p:sp>
      <p:sp>
        <p:nvSpPr>
          <p:cNvPr id="3" name="">
            <a:extLst xmlns:a="http://schemas.openxmlformats.org/drawingml/2006/main">
              <a:ext uri="{FF2B5EF4-FFF2-40B4-BE49-F238E27FC236}">
                <a16:creationId xmlns:a16="http://schemas.microsoft.com/office/drawing/2014/main" id="{BCBDC6AE-B2EB-4685-9832-444222F33C58}"/>
              </a:ext>
            </a:extLst>
          </p:cNvPr>
          <p:cNvSpPr>
            <a:spLocks xmlns:a="http://schemas.openxmlformats.org/drawingml/2006/main" noGrp="1"/>
          </p:cNvSpPr>
          <p:nvPr/>
        </p:nvSpPr>
        <p:spPr>
          <a:xfrm xmlns:a="http://schemas.openxmlformats.org/drawingml/2006/main">
            <a:off x="10963275" y="6210300"/>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BEC8CE"/>
                </a:solidFill>
                <a:latin typeface="Helvetica Neue"/>
                <a:ea typeface="Helvetica Neue"/>
                <a:cs typeface="Helvetica Neue"/>
              </a:defRPr>
            </a:pPr>
            <a:r>
              <a:rPr sz="1350" b="0">
                <a:solidFill>
                  <a:srgbClr val="BEC8CE"/>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D3D1101C-61C8-45C1-92DD-F1D384264C39}"/>
              </a:ext>
            </a:extLst>
          </p:cNvPr>
          <p:cNvSpPr>
            <a:spLocks xmlns:a="http://schemas.openxmlformats.org/drawingml/2006/main" noGrp="1"/>
          </p:cNvSpPr>
          <p:nvPr/>
        </p:nvSpPr>
        <p:spPr>
          <a:xfrm xmlns:a="http://schemas.openxmlformats.org/drawingml/2006/main">
            <a:off x="685800" y="2095500"/>
            <a:ext cx="108585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6450" b="1">
                <a:solidFill>
                  <a:srgbClr val="E7B65E"/>
                </a:solidFill>
                <a:latin typeface="Helvetica Neue"/>
                <a:ea typeface="Helvetica Neue"/>
                <a:cs typeface="Helvetica Neue"/>
              </a:defRPr>
            </a:pPr>
            <a:r>
              <a:rPr sz="6450" b="1">
                <a:solidFill>
                  <a:srgbClr val="E7B65E"/>
                </a:solidFill>
                <a:latin typeface="Helvetica Neue"/>
                <a:ea typeface="Helvetica Neue"/>
                <a:cs typeface="Helvetica Neue"/>
              </a:rPr>
              <a:t>6 million</a:t>
            </a:r>
          </a:p>
        </p:txBody>
      </p:sp>
      <p:sp>
        <p:nvSpPr>
          <p:cNvPr id="5" name="">
            <a:extLst xmlns:a="http://schemas.openxmlformats.org/drawingml/2006/main">
              <a:ext uri="{FF2B5EF4-FFF2-40B4-BE49-F238E27FC236}">
                <a16:creationId xmlns:a16="http://schemas.microsoft.com/office/drawing/2014/main" id="{06DD1581-D76D-4FBB-BAB3-3A06C4EF3F9A}"/>
              </a:ext>
            </a:extLst>
          </p:cNvPr>
          <p:cNvSpPr>
            <a:spLocks xmlns:a="http://schemas.openxmlformats.org/drawingml/2006/main" noGrp="1"/>
          </p:cNvSpPr>
          <p:nvPr/>
        </p:nvSpPr>
        <p:spPr>
          <a:xfrm xmlns:a="http://schemas.openxmlformats.org/drawingml/2006/main">
            <a:off x="723900" y="3190875"/>
            <a:ext cx="981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F4F0E8"/>
                </a:solidFill>
                <a:latin typeface="Helvetica Neue"/>
                <a:ea typeface="Helvetica Neue"/>
                <a:cs typeface="Helvetica Neue"/>
              </a:defRPr>
            </a:pPr>
            <a:r>
              <a:rPr sz="2700" b="1">
                <a:solidFill>
                  <a:srgbClr val="F4F0E8"/>
                </a:solidFill>
                <a:latin typeface="Helvetica Neue"/>
                <a:ea typeface="Helvetica Neue"/>
                <a:cs typeface="Helvetica Neue"/>
              </a:rPr>
              <a:t>Jewish people murdered</a:t>
            </a:r>
          </a:p>
        </p:txBody>
      </p:sp>
      <p:sp>
        <p:nvSpPr>
          <p:cNvPr id="6" name="">
            <a:extLst xmlns:a="http://schemas.openxmlformats.org/drawingml/2006/main">
              <a:ext uri="{FF2B5EF4-FFF2-40B4-BE49-F238E27FC236}">
                <a16:creationId xmlns:a16="http://schemas.microsoft.com/office/drawing/2014/main" id="{F24CF0BD-628A-48CF-9BF0-78E3AA01599D}"/>
              </a:ext>
            </a:extLst>
          </p:cNvPr>
          <p:cNvSpPr>
            <a:spLocks xmlns:a="http://schemas.openxmlformats.org/drawingml/2006/main" noGrp="1"/>
          </p:cNvSpPr>
          <p:nvPr/>
        </p:nvSpPr>
        <p:spPr>
          <a:xfrm xmlns:a="http://schemas.openxmlformats.org/drawingml/2006/main">
            <a:off x="723900" y="4200525"/>
            <a:ext cx="10382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F4F0E8"/>
                </a:solidFill>
                <a:latin typeface="Helvetica Neue"/>
                <a:ea typeface="Helvetica Neue"/>
                <a:cs typeface="Helvetica Neue"/>
              </a:defRPr>
            </a:pPr>
            <a:r>
              <a:rPr sz="1950" b="0">
                <a:solidFill>
                  <a:srgbClr val="F4F0E8"/>
                </a:solidFill>
                <a:latin typeface="Helvetica Neue"/>
                <a:ea typeface="Helvetica Neue"/>
                <a:cs typeface="Helvetica Neue"/>
              </a:rPr>
              <a:t>Nazi Germany and its collaborators persecuted and murdered Jews across Europe. They also targeted Roma, disabled people, Poles and others. Mass shootings and killing centers made genocide central to the war.</a:t>
            </a:r>
          </a:p>
        </p:txBody>
      </p:sp>
    </p:spTree>
    <p:extLst>
      <p:ext uri="{BB962C8B-B14F-4D97-AF65-F5344CB8AC3E}">
        <p14:creationId xmlns:p14="http://schemas.microsoft.com/office/powerpoint/2010/main" val="1521358422"/>
      </p:ext>
    </p:extLst>
  </p:cSld>
</p:sld>
</file>

<file path=ppt/slides/slide7.xml><?xml version="1.0" encoding="utf-8"?>
<p:sld xmlns:p="http://schemas.openxmlformats.org/presentationml/2006/main">
  <p:cSld>
    <p:bg>
      <p:bgPr>
        <a:solidFill xmlns:a="http://schemas.openxmlformats.org/drawingml/2006/main">
          <a:srgbClr val="131E2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3C3C80C-3DF6-4F84-95DF-93D82B192396}"/>
              </a:ext>
            </a:extLst>
          </p:cNvPr>
          <p:cNvSpPr>
            <a:spLocks xmlns:a="http://schemas.openxmlformats.org/drawingml/2006/main" noGrp="1"/>
          </p:cNvSpPr>
          <p:nvPr/>
        </p:nvSpPr>
        <p:spPr>
          <a:xfrm xmlns:a="http://schemas.openxmlformats.org/drawingml/2006/main">
            <a:off x="685800" y="4572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F4F0E8"/>
                </a:solidFill>
                <a:latin typeface="Helvetica Neue"/>
                <a:ea typeface="Helvetica Neue"/>
                <a:cs typeface="Helvetica Neue"/>
              </a:defRPr>
            </a:pPr>
            <a:r>
              <a:rPr sz="3000" b="1">
                <a:solidFill>
                  <a:srgbClr val="F4F0E8"/>
                </a:solidFill>
                <a:latin typeface="Helvetica Neue"/>
                <a:ea typeface="Helvetica Neue"/>
                <a:cs typeface="Helvetica Neue"/>
              </a:rPr>
              <a:t>Allied advance</a:t>
            </a:r>
          </a:p>
        </p:txBody>
      </p:sp>
      <p:sp>
        <p:nvSpPr>
          <p:cNvPr id="2" name="">
            <a:extLst xmlns:a="http://schemas.openxmlformats.org/drawingml/2006/main">
              <a:ext uri="{FF2B5EF4-FFF2-40B4-BE49-F238E27FC236}">
                <a16:creationId xmlns:a16="http://schemas.microsoft.com/office/drawing/2014/main" id="{151203D6-85EC-4F4B-A805-CBF592B27CA7}"/>
              </a:ext>
            </a:extLst>
          </p:cNvPr>
          <p:cNvSpPr>
            <a:spLocks xmlns:a="http://schemas.openxmlformats.org/drawingml/2006/main" noGrp="1"/>
          </p:cNvSpPr>
          <p:nvPr/>
        </p:nvSpPr>
        <p:spPr>
          <a:xfrm xmlns:a="http://schemas.openxmlformats.org/drawingml/2006/main">
            <a:off x="685800" y="124777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E7B65E"/>
                </a:solidFill>
                <a:latin typeface="Helvetica Neue"/>
                <a:ea typeface="Helvetica Neue"/>
                <a:cs typeface="Helvetica Neue"/>
              </a:defRPr>
            </a:pPr>
            <a:r>
              <a:rPr sz="1500" b="1">
                <a:solidFill>
                  <a:srgbClr val="E7B65E"/>
                </a:solidFill>
                <a:latin typeface="Helvetica Neue"/>
                <a:ea typeface="Helvetica Neue"/>
                <a:cs typeface="Helvetica Neue"/>
              </a:rPr>
              <a:t>1944</a:t>
            </a:r>
          </a:p>
        </p:txBody>
      </p:sp>
      <p:sp>
        <p:nvSpPr>
          <p:cNvPr id="3" name="">
            <a:extLst xmlns:a="http://schemas.openxmlformats.org/drawingml/2006/main">
              <a:ext uri="{FF2B5EF4-FFF2-40B4-BE49-F238E27FC236}">
                <a16:creationId xmlns:a16="http://schemas.microsoft.com/office/drawing/2014/main" id="{89429643-DF98-43E1-AEF2-45C537D841A0}"/>
              </a:ext>
            </a:extLst>
          </p:cNvPr>
          <p:cNvSpPr>
            <a:spLocks xmlns:a="http://schemas.openxmlformats.org/drawingml/2006/main" noGrp="1"/>
          </p:cNvSpPr>
          <p:nvPr/>
        </p:nvSpPr>
        <p:spPr>
          <a:xfrm xmlns:a="http://schemas.openxmlformats.org/drawingml/2006/main">
            <a:off x="10963275" y="6210300"/>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BEC8CE"/>
                </a:solidFill>
                <a:latin typeface="Helvetica Neue"/>
                <a:ea typeface="Helvetica Neue"/>
                <a:cs typeface="Helvetica Neue"/>
              </a:defRPr>
            </a:pPr>
            <a:r>
              <a:rPr sz="1350" b="0">
                <a:solidFill>
                  <a:srgbClr val="BEC8CE"/>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C4F8C490-4CB6-44B6-8FE0-62359C01CB45}"/>
              </a:ext>
            </a:extLst>
          </p:cNvPr>
          <p:cNvSpPr>
            <a:spLocks xmlns:a="http://schemas.openxmlformats.org/drawingml/2006/main" noGrp="1"/>
          </p:cNvSpPr>
          <p:nvPr/>
        </p:nvSpPr>
        <p:spPr>
          <a:xfrm xmlns:a="http://schemas.openxmlformats.org/drawingml/2006/main">
            <a:off x="695325" y="2114550"/>
            <a:ext cx="2333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6525" b="1">
                <a:solidFill>
                  <a:srgbClr val="E7B65E"/>
                </a:solidFill>
                <a:latin typeface="Helvetica Neue"/>
                <a:ea typeface="Helvetica Neue"/>
                <a:cs typeface="Helvetica Neue"/>
              </a:defRPr>
            </a:pPr>
            <a:r>
              <a:rPr sz="6525" b="1">
                <a:solidFill>
                  <a:srgbClr val="E7B65E"/>
                </a:solidFill>
                <a:latin typeface="Helvetica Neue"/>
                <a:ea typeface="Helvetica Neue"/>
                <a:cs typeface="Helvetica Neue"/>
              </a:rPr>
              <a:t>1944</a:t>
            </a:r>
          </a:p>
        </p:txBody>
      </p:sp>
      <p:sp>
        <p:nvSpPr>
          <p:cNvPr id="5" name="">
            <a:extLst xmlns:a="http://schemas.openxmlformats.org/drawingml/2006/main">
              <a:ext uri="{FF2B5EF4-FFF2-40B4-BE49-F238E27FC236}">
                <a16:creationId xmlns:a16="http://schemas.microsoft.com/office/drawing/2014/main" id="{C6222E74-D97E-4060-B7AC-902A7A121184}"/>
              </a:ext>
            </a:extLst>
          </p:cNvPr>
          <p:cNvSpPr>
            <a:spLocks xmlns:a="http://schemas.openxmlformats.org/drawingml/2006/main" noGrp="1"/>
          </p:cNvSpPr>
          <p:nvPr/>
        </p:nvSpPr>
        <p:spPr>
          <a:xfrm xmlns:a="http://schemas.openxmlformats.org/drawingml/2006/main">
            <a:off x="3381375" y="2000250"/>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E7B65E"/>
                </a:solidFill>
                <a:latin typeface="Helvetica Neue"/>
                <a:ea typeface="Helvetica Neue"/>
                <a:cs typeface="Helvetica Neue"/>
              </a:defRPr>
            </a:pPr>
            <a:r>
              <a:rPr sz="1875" b="1">
                <a:solidFill>
                  <a:srgbClr val="E7B65E"/>
                </a:solidFill>
                <a:latin typeface="Helvetica Neue"/>
                <a:ea typeface="Helvetica Neue"/>
                <a:cs typeface="Helvetica Neue"/>
              </a:rPr>
              <a:t>D-Day, 6 June</a:t>
            </a:r>
          </a:p>
        </p:txBody>
      </p:sp>
      <p:sp>
        <p:nvSpPr>
          <p:cNvPr id="6" name="">
            <a:extLst xmlns:a="http://schemas.openxmlformats.org/drawingml/2006/main">
              <a:ext uri="{FF2B5EF4-FFF2-40B4-BE49-F238E27FC236}">
                <a16:creationId xmlns:a16="http://schemas.microsoft.com/office/drawing/2014/main" id="{AD43E2D9-F0E4-4DE8-9A94-21F3E2F5BB84}"/>
              </a:ext>
            </a:extLst>
          </p:cNvPr>
          <p:cNvSpPr>
            <a:spLocks xmlns:a="http://schemas.openxmlformats.org/drawingml/2006/main" noGrp="1"/>
          </p:cNvSpPr>
          <p:nvPr/>
        </p:nvSpPr>
        <p:spPr>
          <a:xfrm xmlns:a="http://schemas.openxmlformats.org/drawingml/2006/main">
            <a:off x="3381375" y="2409825"/>
            <a:ext cx="7620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F4F0E8"/>
                </a:solidFill>
                <a:latin typeface="Helvetica Neue"/>
                <a:ea typeface="Helvetica Neue"/>
                <a:cs typeface="Helvetica Neue"/>
              </a:defRPr>
            </a:pPr>
            <a:r>
              <a:rPr sz="1800" b="0">
                <a:solidFill>
                  <a:srgbClr val="F4F0E8"/>
                </a:solidFill>
                <a:latin typeface="Helvetica Neue"/>
                <a:ea typeface="Helvetica Neue"/>
                <a:cs typeface="Helvetica Neue"/>
              </a:rPr>
              <a:t>Allied forces landed in Normandy and began liberating Western Europe.</a:t>
            </a:r>
          </a:p>
        </p:txBody>
      </p:sp>
      <p:sp>
        <p:nvSpPr>
          <p:cNvPr id="7" name="">
            <a:extLst xmlns:a="http://schemas.openxmlformats.org/drawingml/2006/main">
              <a:ext uri="{FF2B5EF4-FFF2-40B4-BE49-F238E27FC236}">
                <a16:creationId xmlns:a16="http://schemas.microsoft.com/office/drawing/2014/main" id="{609347DF-4BC7-4EC1-A029-F823F4C6FC2D}"/>
              </a:ext>
            </a:extLst>
          </p:cNvPr>
          <p:cNvSpPr>
            <a:spLocks xmlns:a="http://schemas.openxmlformats.org/drawingml/2006/main" noGrp="1"/>
          </p:cNvSpPr>
          <p:nvPr/>
        </p:nvSpPr>
        <p:spPr>
          <a:xfrm xmlns:a="http://schemas.openxmlformats.org/drawingml/2006/main">
            <a:off x="3381375" y="3467100"/>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E7B65E"/>
                </a:solidFill>
                <a:latin typeface="Helvetica Neue"/>
                <a:ea typeface="Helvetica Neue"/>
                <a:cs typeface="Helvetica Neue"/>
              </a:defRPr>
            </a:pPr>
            <a:r>
              <a:rPr sz="1875" b="1">
                <a:solidFill>
                  <a:srgbClr val="E7B65E"/>
                </a:solidFill>
                <a:latin typeface="Helvetica Neue"/>
                <a:ea typeface="Helvetica Neue"/>
                <a:cs typeface="Helvetica Neue"/>
              </a:rPr>
              <a:t>Eastern Front</a:t>
            </a:r>
          </a:p>
        </p:txBody>
      </p:sp>
      <p:sp>
        <p:nvSpPr>
          <p:cNvPr id="8" name="">
            <a:extLst xmlns:a="http://schemas.openxmlformats.org/drawingml/2006/main">
              <a:ext uri="{FF2B5EF4-FFF2-40B4-BE49-F238E27FC236}">
                <a16:creationId xmlns:a16="http://schemas.microsoft.com/office/drawing/2014/main" id="{174383D4-AA10-45F2-98FE-2A2E656B50F1}"/>
              </a:ext>
            </a:extLst>
          </p:cNvPr>
          <p:cNvSpPr>
            <a:spLocks xmlns:a="http://schemas.openxmlformats.org/drawingml/2006/main" noGrp="1"/>
          </p:cNvSpPr>
          <p:nvPr/>
        </p:nvSpPr>
        <p:spPr>
          <a:xfrm xmlns:a="http://schemas.openxmlformats.org/drawingml/2006/main">
            <a:off x="3381375" y="3876675"/>
            <a:ext cx="7620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F4F0E8"/>
                </a:solidFill>
                <a:latin typeface="Helvetica Neue"/>
                <a:ea typeface="Helvetica Neue"/>
                <a:cs typeface="Helvetica Neue"/>
              </a:defRPr>
            </a:pPr>
            <a:r>
              <a:rPr sz="1800" b="0">
                <a:solidFill>
                  <a:srgbClr val="F4F0E8"/>
                </a:solidFill>
                <a:latin typeface="Helvetica Neue"/>
                <a:ea typeface="Helvetica Neue"/>
                <a:cs typeface="Helvetica Neue"/>
              </a:rPr>
              <a:t>Soviet forces pushed German armies westward.</a:t>
            </a:r>
          </a:p>
        </p:txBody>
      </p:sp>
      <p:sp>
        <p:nvSpPr>
          <p:cNvPr id="9" name="">
            <a:extLst xmlns:a="http://schemas.openxmlformats.org/drawingml/2006/main">
              <a:ext uri="{FF2B5EF4-FFF2-40B4-BE49-F238E27FC236}">
                <a16:creationId xmlns:a16="http://schemas.microsoft.com/office/drawing/2014/main" id="{9E180CBC-EB28-4A29-ACF1-87B51AF78C1A}"/>
              </a:ext>
            </a:extLst>
          </p:cNvPr>
          <p:cNvSpPr>
            <a:spLocks xmlns:a="http://schemas.openxmlformats.org/drawingml/2006/main" noGrp="1"/>
          </p:cNvSpPr>
          <p:nvPr/>
        </p:nvSpPr>
        <p:spPr>
          <a:xfrm xmlns:a="http://schemas.openxmlformats.org/drawingml/2006/main">
            <a:off x="3381375" y="4933950"/>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E7B65E"/>
                </a:solidFill>
                <a:latin typeface="Helvetica Neue"/>
                <a:ea typeface="Helvetica Neue"/>
                <a:cs typeface="Helvetica Neue"/>
              </a:defRPr>
            </a:pPr>
            <a:r>
              <a:rPr sz="1875" b="1">
                <a:solidFill>
                  <a:srgbClr val="E7B65E"/>
                </a:solidFill>
                <a:latin typeface="Helvetica Neue"/>
                <a:ea typeface="Helvetica Neue"/>
                <a:cs typeface="Helvetica Neue"/>
              </a:rPr>
              <a:t>Pacific campaign</a:t>
            </a:r>
          </a:p>
        </p:txBody>
      </p:sp>
      <p:sp>
        <p:nvSpPr>
          <p:cNvPr id="10" name="">
            <a:extLst xmlns:a="http://schemas.openxmlformats.org/drawingml/2006/main">
              <a:ext uri="{FF2B5EF4-FFF2-40B4-BE49-F238E27FC236}">
                <a16:creationId xmlns:a16="http://schemas.microsoft.com/office/drawing/2014/main" id="{5C41B262-FF34-41C5-9E4B-C45DEFCF1312}"/>
              </a:ext>
            </a:extLst>
          </p:cNvPr>
          <p:cNvSpPr>
            <a:spLocks xmlns:a="http://schemas.openxmlformats.org/drawingml/2006/main" noGrp="1"/>
          </p:cNvSpPr>
          <p:nvPr/>
        </p:nvSpPr>
        <p:spPr>
          <a:xfrm xmlns:a="http://schemas.openxmlformats.org/drawingml/2006/main">
            <a:off x="3381375" y="5343525"/>
            <a:ext cx="7620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F4F0E8"/>
                </a:solidFill>
                <a:latin typeface="Helvetica Neue"/>
                <a:ea typeface="Helvetica Neue"/>
                <a:cs typeface="Helvetica Neue"/>
              </a:defRPr>
            </a:pPr>
            <a:r>
              <a:rPr sz="1800" b="0">
                <a:solidFill>
                  <a:srgbClr val="F4F0E8"/>
                </a:solidFill>
                <a:latin typeface="Helvetica Neue"/>
                <a:ea typeface="Helvetica Neue"/>
                <a:cs typeface="Helvetica Neue"/>
              </a:rPr>
              <a:t>Allied forces advanced toward Japan through costly island battles.</a:t>
            </a:r>
          </a:p>
        </p:txBody>
      </p:sp>
    </p:spTree>
    <p:extLst>
      <p:ext uri="{BB962C8B-B14F-4D97-AF65-F5344CB8AC3E}">
        <p14:creationId xmlns:p14="http://schemas.microsoft.com/office/powerpoint/2010/main" val="465187459"/>
      </p:ext>
    </p:extLst>
  </p:cSld>
</p:sld>
</file>

<file path=ppt/slides/slide8.xml><?xml version="1.0" encoding="utf-8"?>
<p:sld xmlns:p="http://schemas.openxmlformats.org/presentationml/2006/main">
  <p:cSld>
    <p:bg>
      <p:bgPr>
        <a:solidFill xmlns:a="http://schemas.openxmlformats.org/drawingml/2006/main">
          <a:srgbClr val="131E2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1382BF5-71F1-496D-86A7-8440E2BF19BD}"/>
              </a:ext>
            </a:extLst>
          </p:cNvPr>
          <p:cNvSpPr>
            <a:spLocks xmlns:a="http://schemas.openxmlformats.org/drawingml/2006/main" noGrp="1"/>
          </p:cNvSpPr>
          <p:nvPr/>
        </p:nvSpPr>
        <p:spPr>
          <a:xfrm xmlns:a="http://schemas.openxmlformats.org/drawingml/2006/main">
            <a:off x="685800" y="4572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F4F0E8"/>
                </a:solidFill>
                <a:latin typeface="Helvetica Neue"/>
                <a:ea typeface="Helvetica Neue"/>
                <a:cs typeface="Helvetica Neue"/>
              </a:defRPr>
            </a:pPr>
            <a:r>
              <a:rPr sz="3000" b="1">
                <a:solidFill>
                  <a:srgbClr val="F4F0E8"/>
                </a:solidFill>
                <a:latin typeface="Helvetica Neue"/>
                <a:ea typeface="Helvetica Neue"/>
                <a:cs typeface="Helvetica Neue"/>
              </a:rPr>
              <a:t>The war ends</a:t>
            </a:r>
          </a:p>
        </p:txBody>
      </p:sp>
      <p:sp>
        <p:nvSpPr>
          <p:cNvPr id="2" name="">
            <a:extLst xmlns:a="http://schemas.openxmlformats.org/drawingml/2006/main">
              <a:ext uri="{FF2B5EF4-FFF2-40B4-BE49-F238E27FC236}">
                <a16:creationId xmlns:a16="http://schemas.microsoft.com/office/drawing/2014/main" id="{C8C57E9A-1FC3-4083-A76A-57088433F1AF}"/>
              </a:ext>
            </a:extLst>
          </p:cNvPr>
          <p:cNvSpPr>
            <a:spLocks xmlns:a="http://schemas.openxmlformats.org/drawingml/2006/main" noGrp="1"/>
          </p:cNvSpPr>
          <p:nvPr/>
        </p:nvSpPr>
        <p:spPr>
          <a:xfrm xmlns:a="http://schemas.openxmlformats.org/drawingml/2006/main">
            <a:off x="685800" y="124777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E7B65E"/>
                </a:solidFill>
                <a:latin typeface="Helvetica Neue"/>
                <a:ea typeface="Helvetica Neue"/>
                <a:cs typeface="Helvetica Neue"/>
              </a:defRPr>
            </a:pPr>
            <a:r>
              <a:rPr sz="1500" b="1">
                <a:solidFill>
                  <a:srgbClr val="E7B65E"/>
                </a:solidFill>
                <a:latin typeface="Helvetica Neue"/>
                <a:ea typeface="Helvetica Neue"/>
                <a:cs typeface="Helvetica Neue"/>
              </a:rPr>
              <a:t>1945</a:t>
            </a:r>
          </a:p>
        </p:txBody>
      </p:sp>
      <p:sp>
        <p:nvSpPr>
          <p:cNvPr id="3" name="">
            <a:extLst xmlns:a="http://schemas.openxmlformats.org/drawingml/2006/main">
              <a:ext uri="{FF2B5EF4-FFF2-40B4-BE49-F238E27FC236}">
                <a16:creationId xmlns:a16="http://schemas.microsoft.com/office/drawing/2014/main" id="{D018D3FF-6D41-4777-9D4B-3F01F5F23A7F}"/>
              </a:ext>
            </a:extLst>
          </p:cNvPr>
          <p:cNvSpPr>
            <a:spLocks xmlns:a="http://schemas.openxmlformats.org/drawingml/2006/main" noGrp="1"/>
          </p:cNvSpPr>
          <p:nvPr/>
        </p:nvSpPr>
        <p:spPr>
          <a:xfrm xmlns:a="http://schemas.openxmlformats.org/drawingml/2006/main">
            <a:off x="10963275" y="6210300"/>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BEC8CE"/>
                </a:solidFill>
                <a:latin typeface="Helvetica Neue"/>
                <a:ea typeface="Helvetica Neue"/>
                <a:cs typeface="Helvetica Neue"/>
              </a:defRPr>
            </a:pPr>
            <a:r>
              <a:rPr sz="1350" b="0">
                <a:solidFill>
                  <a:srgbClr val="BEC8CE"/>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50EFE6E8-6028-4FE2-9C31-978E6FB9C222}"/>
              </a:ext>
            </a:extLst>
          </p:cNvPr>
          <p:cNvSpPr>
            <a:spLocks xmlns:a="http://schemas.openxmlformats.org/drawingml/2006/main" noGrp="1"/>
          </p:cNvSpPr>
          <p:nvPr/>
        </p:nvSpPr>
        <p:spPr>
          <a:xfrm xmlns:a="http://schemas.openxmlformats.org/drawingml/2006/main">
            <a:off x="695325" y="2114550"/>
            <a:ext cx="2333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6525" b="1">
                <a:solidFill>
                  <a:srgbClr val="E7B65E"/>
                </a:solidFill>
                <a:latin typeface="Helvetica Neue"/>
                <a:ea typeface="Helvetica Neue"/>
                <a:cs typeface="Helvetica Neue"/>
              </a:defRPr>
            </a:pPr>
            <a:r>
              <a:rPr sz="6525" b="1">
                <a:solidFill>
                  <a:srgbClr val="E7B65E"/>
                </a:solidFill>
                <a:latin typeface="Helvetica Neue"/>
                <a:ea typeface="Helvetica Neue"/>
                <a:cs typeface="Helvetica Neue"/>
              </a:rPr>
              <a:t>1945</a:t>
            </a:r>
          </a:p>
        </p:txBody>
      </p:sp>
      <p:sp>
        <p:nvSpPr>
          <p:cNvPr id="5" name="">
            <a:extLst xmlns:a="http://schemas.openxmlformats.org/drawingml/2006/main">
              <a:ext uri="{FF2B5EF4-FFF2-40B4-BE49-F238E27FC236}">
                <a16:creationId xmlns:a16="http://schemas.microsoft.com/office/drawing/2014/main" id="{7AD30A2B-4CB5-4096-B86A-12B9DDDD3523}"/>
              </a:ext>
            </a:extLst>
          </p:cNvPr>
          <p:cNvSpPr>
            <a:spLocks xmlns:a="http://schemas.openxmlformats.org/drawingml/2006/main" noGrp="1"/>
          </p:cNvSpPr>
          <p:nvPr/>
        </p:nvSpPr>
        <p:spPr>
          <a:xfrm xmlns:a="http://schemas.openxmlformats.org/drawingml/2006/main">
            <a:off x="3381375" y="2000250"/>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E7B65E"/>
                </a:solidFill>
                <a:latin typeface="Helvetica Neue"/>
                <a:ea typeface="Helvetica Neue"/>
                <a:cs typeface="Helvetica Neue"/>
              </a:defRPr>
            </a:pPr>
            <a:r>
              <a:rPr sz="1875" b="1">
                <a:solidFill>
                  <a:srgbClr val="E7B65E"/>
                </a:solidFill>
                <a:latin typeface="Helvetica Neue"/>
                <a:ea typeface="Helvetica Neue"/>
                <a:cs typeface="Helvetica Neue"/>
              </a:rPr>
              <a:t>8 May</a:t>
            </a:r>
          </a:p>
        </p:txBody>
      </p:sp>
      <p:sp>
        <p:nvSpPr>
          <p:cNvPr id="6" name="">
            <a:extLst xmlns:a="http://schemas.openxmlformats.org/drawingml/2006/main">
              <a:ext uri="{FF2B5EF4-FFF2-40B4-BE49-F238E27FC236}">
                <a16:creationId xmlns:a16="http://schemas.microsoft.com/office/drawing/2014/main" id="{7EF139DC-C713-4A33-86C6-48293C2CE10E}"/>
              </a:ext>
            </a:extLst>
          </p:cNvPr>
          <p:cNvSpPr>
            <a:spLocks xmlns:a="http://schemas.openxmlformats.org/drawingml/2006/main" noGrp="1"/>
          </p:cNvSpPr>
          <p:nvPr/>
        </p:nvSpPr>
        <p:spPr>
          <a:xfrm xmlns:a="http://schemas.openxmlformats.org/drawingml/2006/main">
            <a:off x="3381375" y="2409825"/>
            <a:ext cx="7620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F4F0E8"/>
                </a:solidFill>
                <a:latin typeface="Helvetica Neue"/>
                <a:ea typeface="Helvetica Neue"/>
                <a:cs typeface="Helvetica Neue"/>
              </a:defRPr>
            </a:pPr>
            <a:r>
              <a:rPr sz="1800" b="0">
                <a:solidFill>
                  <a:srgbClr val="F4F0E8"/>
                </a:solidFill>
                <a:latin typeface="Helvetica Neue"/>
                <a:ea typeface="Helvetica Neue"/>
                <a:cs typeface="Helvetica Neue"/>
              </a:rPr>
              <a:t>Germany surrendered. Victory in Europe followed years of fighting and occupation.</a:t>
            </a:r>
          </a:p>
        </p:txBody>
      </p:sp>
      <p:sp>
        <p:nvSpPr>
          <p:cNvPr id="7" name="">
            <a:extLst xmlns:a="http://schemas.openxmlformats.org/drawingml/2006/main">
              <a:ext uri="{FF2B5EF4-FFF2-40B4-BE49-F238E27FC236}">
                <a16:creationId xmlns:a16="http://schemas.microsoft.com/office/drawing/2014/main" id="{2DFE5DE0-45D7-4FD1-8AC4-3D09BB8FC8C1}"/>
              </a:ext>
            </a:extLst>
          </p:cNvPr>
          <p:cNvSpPr>
            <a:spLocks xmlns:a="http://schemas.openxmlformats.org/drawingml/2006/main" noGrp="1"/>
          </p:cNvSpPr>
          <p:nvPr/>
        </p:nvSpPr>
        <p:spPr>
          <a:xfrm xmlns:a="http://schemas.openxmlformats.org/drawingml/2006/main">
            <a:off x="3381375" y="3467100"/>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E7B65E"/>
                </a:solidFill>
                <a:latin typeface="Helvetica Neue"/>
                <a:ea typeface="Helvetica Neue"/>
                <a:cs typeface="Helvetica Neue"/>
              </a:defRPr>
            </a:pPr>
            <a:r>
              <a:rPr sz="1875" b="1">
                <a:solidFill>
                  <a:srgbClr val="E7B65E"/>
                </a:solidFill>
                <a:latin typeface="Helvetica Neue"/>
                <a:ea typeface="Helvetica Neue"/>
                <a:cs typeface="Helvetica Neue"/>
              </a:rPr>
              <a:t>August</a:t>
            </a:r>
          </a:p>
        </p:txBody>
      </p:sp>
      <p:sp>
        <p:nvSpPr>
          <p:cNvPr id="8" name="">
            <a:extLst xmlns:a="http://schemas.openxmlformats.org/drawingml/2006/main">
              <a:ext uri="{FF2B5EF4-FFF2-40B4-BE49-F238E27FC236}">
                <a16:creationId xmlns:a16="http://schemas.microsoft.com/office/drawing/2014/main" id="{73D007FE-AB94-41AB-B955-945A4299C9C8}"/>
              </a:ext>
            </a:extLst>
          </p:cNvPr>
          <p:cNvSpPr>
            <a:spLocks xmlns:a="http://schemas.openxmlformats.org/drawingml/2006/main" noGrp="1"/>
          </p:cNvSpPr>
          <p:nvPr/>
        </p:nvSpPr>
        <p:spPr>
          <a:xfrm xmlns:a="http://schemas.openxmlformats.org/drawingml/2006/main">
            <a:off x="3381375" y="3876675"/>
            <a:ext cx="7620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F4F0E8"/>
                </a:solidFill>
                <a:latin typeface="Helvetica Neue"/>
                <a:ea typeface="Helvetica Neue"/>
                <a:cs typeface="Helvetica Neue"/>
              </a:defRPr>
            </a:pPr>
            <a:r>
              <a:rPr sz="1800" b="0">
                <a:solidFill>
                  <a:srgbClr val="F4F0E8"/>
                </a:solidFill>
                <a:latin typeface="Helvetica Neue"/>
                <a:ea typeface="Helvetica Neue"/>
                <a:cs typeface="Helvetica Neue"/>
              </a:rPr>
              <a:t>The United States dropped atomic bombs on Hiroshima and Nagasaki. The Soviet Union entered the war against Japan.</a:t>
            </a:r>
          </a:p>
        </p:txBody>
      </p:sp>
      <p:sp>
        <p:nvSpPr>
          <p:cNvPr id="9" name="">
            <a:extLst xmlns:a="http://schemas.openxmlformats.org/drawingml/2006/main">
              <a:ext uri="{FF2B5EF4-FFF2-40B4-BE49-F238E27FC236}">
                <a16:creationId xmlns:a16="http://schemas.microsoft.com/office/drawing/2014/main" id="{F8168535-09F0-4536-A0FB-EFA46567652A}"/>
              </a:ext>
            </a:extLst>
          </p:cNvPr>
          <p:cNvSpPr>
            <a:spLocks xmlns:a="http://schemas.openxmlformats.org/drawingml/2006/main" noGrp="1"/>
          </p:cNvSpPr>
          <p:nvPr/>
        </p:nvSpPr>
        <p:spPr>
          <a:xfrm xmlns:a="http://schemas.openxmlformats.org/drawingml/2006/main">
            <a:off x="3381375" y="4933950"/>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E7B65E"/>
                </a:solidFill>
                <a:latin typeface="Helvetica Neue"/>
                <a:ea typeface="Helvetica Neue"/>
                <a:cs typeface="Helvetica Neue"/>
              </a:defRPr>
            </a:pPr>
            <a:r>
              <a:rPr sz="1875" b="1">
                <a:solidFill>
                  <a:srgbClr val="E7B65E"/>
                </a:solidFill>
                <a:latin typeface="Helvetica Neue"/>
                <a:ea typeface="Helvetica Neue"/>
                <a:cs typeface="Helvetica Neue"/>
              </a:rPr>
              <a:t>2 September</a:t>
            </a:r>
          </a:p>
        </p:txBody>
      </p:sp>
      <p:sp>
        <p:nvSpPr>
          <p:cNvPr id="10" name="">
            <a:extLst xmlns:a="http://schemas.openxmlformats.org/drawingml/2006/main">
              <a:ext uri="{FF2B5EF4-FFF2-40B4-BE49-F238E27FC236}">
                <a16:creationId xmlns:a16="http://schemas.microsoft.com/office/drawing/2014/main" id="{7975E9BD-6E83-4066-B55B-5AE1B0745A16}"/>
              </a:ext>
            </a:extLst>
          </p:cNvPr>
          <p:cNvSpPr>
            <a:spLocks xmlns:a="http://schemas.openxmlformats.org/drawingml/2006/main" noGrp="1"/>
          </p:cNvSpPr>
          <p:nvPr/>
        </p:nvSpPr>
        <p:spPr>
          <a:xfrm xmlns:a="http://schemas.openxmlformats.org/drawingml/2006/main">
            <a:off x="3381375" y="5343525"/>
            <a:ext cx="7620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F4F0E8"/>
                </a:solidFill>
                <a:latin typeface="Helvetica Neue"/>
                <a:ea typeface="Helvetica Neue"/>
                <a:cs typeface="Helvetica Neue"/>
              </a:defRPr>
            </a:pPr>
            <a:r>
              <a:rPr sz="1800" b="0">
                <a:solidFill>
                  <a:srgbClr val="F4F0E8"/>
                </a:solidFill>
                <a:latin typeface="Helvetica Neue"/>
                <a:ea typeface="Helvetica Neue"/>
                <a:cs typeface="Helvetica Neue"/>
              </a:rPr>
              <a:t>Japan formally surrendered, ending World War II.</a:t>
            </a:r>
          </a:p>
        </p:txBody>
      </p:sp>
    </p:spTree>
    <p:extLst>
      <p:ext uri="{BB962C8B-B14F-4D97-AF65-F5344CB8AC3E}">
        <p14:creationId xmlns:p14="http://schemas.microsoft.com/office/powerpoint/2010/main" val="406031794"/>
      </p:ext>
    </p:extLst>
  </p:cSld>
</p:sld>
</file>

<file path=ppt/slides/slide9.xml><?xml version="1.0" encoding="utf-8"?>
<p:sld xmlns:p="http://schemas.openxmlformats.org/presentationml/2006/main">
  <p:cSld>
    <p:bg>
      <p:bgPr>
        <a:solidFill xmlns:a="http://schemas.openxmlformats.org/drawingml/2006/main">
          <a:srgbClr val="131E2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8B2FFE8-E181-4C7B-B8F0-D47310724E06}"/>
              </a:ext>
            </a:extLst>
          </p:cNvPr>
          <p:cNvSpPr>
            <a:spLocks xmlns:a="http://schemas.openxmlformats.org/drawingml/2006/main" noGrp="1"/>
          </p:cNvSpPr>
          <p:nvPr/>
        </p:nvSpPr>
        <p:spPr>
          <a:xfrm xmlns:a="http://schemas.openxmlformats.org/drawingml/2006/main">
            <a:off x="685800" y="4572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F4F0E8"/>
                </a:solidFill>
                <a:latin typeface="Helvetica Neue"/>
                <a:ea typeface="Helvetica Neue"/>
                <a:cs typeface="Helvetica Neue"/>
              </a:defRPr>
            </a:pPr>
            <a:r>
              <a:rPr sz="3000" b="1">
                <a:solidFill>
                  <a:srgbClr val="F4F0E8"/>
                </a:solidFill>
                <a:latin typeface="Helvetica Neue"/>
                <a:ea typeface="Helvetica Neue"/>
                <a:cs typeface="Helvetica Neue"/>
              </a:rPr>
              <a:t>Aftermath</a:t>
            </a:r>
          </a:p>
        </p:txBody>
      </p:sp>
      <p:sp>
        <p:nvSpPr>
          <p:cNvPr id="2" name="">
            <a:extLst xmlns:a="http://schemas.openxmlformats.org/drawingml/2006/main">
              <a:ext uri="{FF2B5EF4-FFF2-40B4-BE49-F238E27FC236}">
                <a16:creationId xmlns:a16="http://schemas.microsoft.com/office/drawing/2014/main" id="{56B1B7BF-4BAD-4DBA-BA3C-6FA66ABC8215}"/>
              </a:ext>
            </a:extLst>
          </p:cNvPr>
          <p:cNvSpPr>
            <a:spLocks xmlns:a="http://schemas.openxmlformats.org/drawingml/2006/main" noGrp="1"/>
          </p:cNvSpPr>
          <p:nvPr/>
        </p:nvSpPr>
        <p:spPr>
          <a:xfrm xmlns:a="http://schemas.openxmlformats.org/drawingml/2006/main">
            <a:off x="685800" y="124777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E7B65E"/>
                </a:solidFill>
                <a:latin typeface="Helvetica Neue"/>
                <a:ea typeface="Helvetica Neue"/>
                <a:cs typeface="Helvetica Neue"/>
              </a:defRPr>
            </a:pPr>
            <a:r>
              <a:rPr sz="1500" b="1">
                <a:solidFill>
                  <a:srgbClr val="E7B65E"/>
                </a:solidFill>
                <a:latin typeface="Helvetica Neue"/>
                <a:ea typeface="Helvetica Neue"/>
                <a:cs typeface="Helvetica Neue"/>
              </a:rPr>
              <a:t>After 1945</a:t>
            </a:r>
          </a:p>
        </p:txBody>
      </p:sp>
      <p:sp>
        <p:nvSpPr>
          <p:cNvPr id="3" name="">
            <a:extLst xmlns:a="http://schemas.openxmlformats.org/drawingml/2006/main">
              <a:ext uri="{FF2B5EF4-FFF2-40B4-BE49-F238E27FC236}">
                <a16:creationId xmlns:a16="http://schemas.microsoft.com/office/drawing/2014/main" id="{C4E38D02-3795-48DA-A602-163DF70C3AF7}"/>
              </a:ext>
            </a:extLst>
          </p:cNvPr>
          <p:cNvSpPr>
            <a:spLocks xmlns:a="http://schemas.openxmlformats.org/drawingml/2006/main" noGrp="1"/>
          </p:cNvSpPr>
          <p:nvPr/>
        </p:nvSpPr>
        <p:spPr>
          <a:xfrm xmlns:a="http://schemas.openxmlformats.org/drawingml/2006/main">
            <a:off x="10963275" y="6210300"/>
            <a:ext cx="55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BEC8CE"/>
                </a:solidFill>
                <a:latin typeface="Helvetica Neue"/>
                <a:ea typeface="Helvetica Neue"/>
                <a:cs typeface="Helvetica Neue"/>
              </a:defRPr>
            </a:pPr>
            <a:r>
              <a:rPr sz="1350" b="0">
                <a:solidFill>
                  <a:srgbClr val="BEC8CE"/>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C720DB16-0EE8-48E7-8ABB-F5DA62211127}"/>
              </a:ext>
            </a:extLst>
          </p:cNvPr>
          <p:cNvSpPr>
            <a:spLocks xmlns:a="http://schemas.openxmlformats.org/drawingml/2006/main" noGrp="1"/>
          </p:cNvSpPr>
          <p:nvPr/>
        </p:nvSpPr>
        <p:spPr>
          <a:xfrm xmlns:a="http://schemas.openxmlformats.org/drawingml/2006/main">
            <a:off x="695325" y="2114550"/>
            <a:ext cx="266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5100" b="1">
                <a:solidFill>
                  <a:srgbClr val="E7B65E"/>
                </a:solidFill>
                <a:latin typeface="Helvetica Neue"/>
                <a:ea typeface="Helvetica Neue"/>
                <a:cs typeface="Helvetica Neue"/>
              </a:defRPr>
            </a:pPr>
            <a:r>
              <a:rPr sz="5100" b="1">
                <a:solidFill>
                  <a:srgbClr val="E7B65E"/>
                </a:solidFill>
                <a:latin typeface="Helvetica Neue"/>
                <a:ea typeface="Helvetica Neue"/>
                <a:cs typeface="Helvetica Neue"/>
              </a:rPr>
              <a:t>1945+</a:t>
            </a:r>
          </a:p>
        </p:txBody>
      </p:sp>
      <p:sp>
        <p:nvSpPr>
          <p:cNvPr id="5" name="">
            <a:extLst xmlns:a="http://schemas.openxmlformats.org/drawingml/2006/main">
              <a:ext uri="{FF2B5EF4-FFF2-40B4-BE49-F238E27FC236}">
                <a16:creationId xmlns:a16="http://schemas.microsoft.com/office/drawing/2014/main" id="{4D288FF5-4F3A-497D-A15A-5779B9D5E04F}"/>
              </a:ext>
            </a:extLst>
          </p:cNvPr>
          <p:cNvSpPr>
            <a:spLocks xmlns:a="http://schemas.openxmlformats.org/drawingml/2006/main" noGrp="1"/>
          </p:cNvSpPr>
          <p:nvPr/>
        </p:nvSpPr>
        <p:spPr>
          <a:xfrm xmlns:a="http://schemas.openxmlformats.org/drawingml/2006/main">
            <a:off x="3381375" y="2000250"/>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E7B65E"/>
                </a:solidFill>
                <a:latin typeface="Helvetica Neue"/>
                <a:ea typeface="Helvetica Neue"/>
                <a:cs typeface="Helvetica Neue"/>
              </a:defRPr>
            </a:pPr>
            <a:r>
              <a:rPr sz="1875" b="1">
                <a:solidFill>
                  <a:srgbClr val="E7B65E"/>
                </a:solidFill>
                <a:latin typeface="Helvetica Neue"/>
                <a:ea typeface="Helvetica Neue"/>
                <a:cs typeface="Helvetica Neue"/>
              </a:rPr>
              <a:t>Rebuilding and justice</a:t>
            </a:r>
          </a:p>
        </p:txBody>
      </p:sp>
      <p:sp>
        <p:nvSpPr>
          <p:cNvPr id="6" name="">
            <a:extLst xmlns:a="http://schemas.openxmlformats.org/drawingml/2006/main">
              <a:ext uri="{FF2B5EF4-FFF2-40B4-BE49-F238E27FC236}">
                <a16:creationId xmlns:a16="http://schemas.microsoft.com/office/drawing/2014/main" id="{C4C12B59-097B-4FFA-9175-537F449731D8}"/>
              </a:ext>
            </a:extLst>
          </p:cNvPr>
          <p:cNvSpPr>
            <a:spLocks xmlns:a="http://schemas.openxmlformats.org/drawingml/2006/main" noGrp="1"/>
          </p:cNvSpPr>
          <p:nvPr/>
        </p:nvSpPr>
        <p:spPr>
          <a:xfrm xmlns:a="http://schemas.openxmlformats.org/drawingml/2006/main">
            <a:off x="3381375" y="2409825"/>
            <a:ext cx="7620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F4F0E8"/>
                </a:solidFill>
                <a:latin typeface="Helvetica Neue"/>
                <a:ea typeface="Helvetica Neue"/>
                <a:cs typeface="Helvetica Neue"/>
              </a:defRPr>
            </a:pPr>
            <a:r>
              <a:rPr sz="1800" b="0">
                <a:solidFill>
                  <a:srgbClr val="F4F0E8"/>
                </a:solidFill>
                <a:latin typeface="Helvetica Neue"/>
                <a:ea typeface="Helvetica Neue"/>
                <a:cs typeface="Helvetica Neue"/>
              </a:rPr>
              <a:t>Europe and Asia faced enormous destruction. War crimes trials began in Nuremberg.</a:t>
            </a:r>
          </a:p>
        </p:txBody>
      </p:sp>
      <p:sp>
        <p:nvSpPr>
          <p:cNvPr id="7" name="">
            <a:extLst xmlns:a="http://schemas.openxmlformats.org/drawingml/2006/main">
              <a:ext uri="{FF2B5EF4-FFF2-40B4-BE49-F238E27FC236}">
                <a16:creationId xmlns:a16="http://schemas.microsoft.com/office/drawing/2014/main" id="{4009D960-E8BA-4DC2-928E-720FFD60D89C}"/>
              </a:ext>
            </a:extLst>
          </p:cNvPr>
          <p:cNvSpPr>
            <a:spLocks xmlns:a="http://schemas.openxmlformats.org/drawingml/2006/main" noGrp="1"/>
          </p:cNvSpPr>
          <p:nvPr/>
        </p:nvSpPr>
        <p:spPr>
          <a:xfrm xmlns:a="http://schemas.openxmlformats.org/drawingml/2006/main">
            <a:off x="3381375" y="3467100"/>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E7B65E"/>
                </a:solidFill>
                <a:latin typeface="Helvetica Neue"/>
                <a:ea typeface="Helvetica Neue"/>
                <a:cs typeface="Helvetica Neue"/>
              </a:defRPr>
            </a:pPr>
            <a:r>
              <a:rPr sz="1875" b="1">
                <a:solidFill>
                  <a:srgbClr val="E7B65E"/>
                </a:solidFill>
                <a:latin typeface="Helvetica Neue"/>
                <a:ea typeface="Helvetica Neue"/>
                <a:cs typeface="Helvetica Neue"/>
              </a:rPr>
              <a:t>A new world order</a:t>
            </a:r>
          </a:p>
        </p:txBody>
      </p:sp>
      <p:sp>
        <p:nvSpPr>
          <p:cNvPr id="8" name="">
            <a:extLst xmlns:a="http://schemas.openxmlformats.org/drawingml/2006/main">
              <a:ext uri="{FF2B5EF4-FFF2-40B4-BE49-F238E27FC236}">
                <a16:creationId xmlns:a16="http://schemas.microsoft.com/office/drawing/2014/main" id="{82311D94-AF0C-4261-9EBA-C652E3183B1A}"/>
              </a:ext>
            </a:extLst>
          </p:cNvPr>
          <p:cNvSpPr>
            <a:spLocks xmlns:a="http://schemas.openxmlformats.org/drawingml/2006/main" noGrp="1"/>
          </p:cNvSpPr>
          <p:nvPr/>
        </p:nvSpPr>
        <p:spPr>
          <a:xfrm xmlns:a="http://schemas.openxmlformats.org/drawingml/2006/main">
            <a:off x="3381375" y="3876675"/>
            <a:ext cx="7620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F4F0E8"/>
                </a:solidFill>
                <a:latin typeface="Helvetica Neue"/>
                <a:ea typeface="Helvetica Neue"/>
                <a:cs typeface="Helvetica Neue"/>
              </a:defRPr>
            </a:pPr>
            <a:r>
              <a:rPr sz="1800" b="0">
                <a:solidFill>
                  <a:srgbClr val="F4F0E8"/>
                </a:solidFill>
                <a:latin typeface="Helvetica Neue"/>
                <a:ea typeface="Helvetica Neue"/>
                <a:cs typeface="Helvetica Neue"/>
              </a:rPr>
              <a:t>The United Nations formed in 1945 to support international peace.</a:t>
            </a:r>
          </a:p>
        </p:txBody>
      </p:sp>
      <p:sp>
        <p:nvSpPr>
          <p:cNvPr id="9" name="">
            <a:extLst xmlns:a="http://schemas.openxmlformats.org/drawingml/2006/main">
              <a:ext uri="{FF2B5EF4-FFF2-40B4-BE49-F238E27FC236}">
                <a16:creationId xmlns:a16="http://schemas.microsoft.com/office/drawing/2014/main" id="{2781AD9F-72C9-4075-ACAA-A5485FA53A75}"/>
              </a:ext>
            </a:extLst>
          </p:cNvPr>
          <p:cNvSpPr>
            <a:spLocks xmlns:a="http://schemas.openxmlformats.org/drawingml/2006/main" noGrp="1"/>
          </p:cNvSpPr>
          <p:nvPr/>
        </p:nvSpPr>
        <p:spPr>
          <a:xfrm xmlns:a="http://schemas.openxmlformats.org/drawingml/2006/main">
            <a:off x="3381375" y="4933950"/>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E7B65E"/>
                </a:solidFill>
                <a:latin typeface="Helvetica Neue"/>
                <a:ea typeface="Helvetica Neue"/>
                <a:cs typeface="Helvetica Neue"/>
              </a:defRPr>
            </a:pPr>
            <a:r>
              <a:rPr sz="1875" b="1">
                <a:solidFill>
                  <a:srgbClr val="E7B65E"/>
                </a:solidFill>
                <a:latin typeface="Helvetica Neue"/>
                <a:ea typeface="Helvetica Neue"/>
                <a:cs typeface="Helvetica Neue"/>
              </a:rPr>
              <a:t>Cold War divisions</a:t>
            </a:r>
          </a:p>
        </p:txBody>
      </p:sp>
      <p:sp>
        <p:nvSpPr>
          <p:cNvPr id="10" name="">
            <a:extLst xmlns:a="http://schemas.openxmlformats.org/drawingml/2006/main">
              <a:ext uri="{FF2B5EF4-FFF2-40B4-BE49-F238E27FC236}">
                <a16:creationId xmlns:a16="http://schemas.microsoft.com/office/drawing/2014/main" id="{FD1A5707-3EAC-4DEF-AA84-CDBDFB73E320}"/>
              </a:ext>
            </a:extLst>
          </p:cNvPr>
          <p:cNvSpPr>
            <a:spLocks xmlns:a="http://schemas.openxmlformats.org/drawingml/2006/main" noGrp="1"/>
          </p:cNvSpPr>
          <p:nvPr/>
        </p:nvSpPr>
        <p:spPr>
          <a:xfrm xmlns:a="http://schemas.openxmlformats.org/drawingml/2006/main">
            <a:off x="3381375" y="5343525"/>
            <a:ext cx="7620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F4F0E8"/>
                </a:solidFill>
                <a:latin typeface="Helvetica Neue"/>
                <a:ea typeface="Helvetica Neue"/>
                <a:cs typeface="Helvetica Neue"/>
              </a:defRPr>
            </a:pPr>
            <a:r>
              <a:rPr sz="1800" b="0">
                <a:solidFill>
                  <a:srgbClr val="F4F0E8"/>
                </a:solidFill>
                <a:latin typeface="Helvetica Neue"/>
                <a:ea typeface="Helvetica Neue"/>
                <a:cs typeface="Helvetica Neue"/>
              </a:rPr>
              <a:t>Germany came under Allied occupation as tensions grew between the Soviet Union and Western powers.</a:t>
            </a:r>
          </a:p>
        </p:txBody>
      </p:sp>
    </p:spTree>
    <p:extLst>
      <p:ext uri="{BB962C8B-B14F-4D97-AF65-F5344CB8AC3E}">
        <p14:creationId xmlns:p14="http://schemas.microsoft.com/office/powerpoint/2010/main" val="12800718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2026-09-27T00:50:34.3920000Z</dcterms:created>
  <dcterms:modified xsi:type="dcterms:W3CDTF">2026-09-27T00:50:34.3920000Z</dcterms:modified>
</coreProperties>
</file>