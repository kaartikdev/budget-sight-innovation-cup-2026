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c27a45" accent2="142437" accent3="e7e0d0" accent4="596a76" accent5="9a6545" accent6="445662" bg1="lt1" bg2="lt2" folHlink="folHlink" hlink="hlink" tx1="dk1" tx2="dk2"/>
  <p:sldLayoutIdLst>
    <p:sldLayoutId id="2147483649" r:id="rId1"/>
  </p:sldLayoutIdLst>
</p:sldMaster>
</file>

<file path=ppt/slides/_rels/slide1.xml.rels><?xml version="1.0" encoding="UTF-8" standalone="yes"?>
        <Relationships xmlns="http://schemas.openxmlformats.org/package/2006/relationships">
        <Relationship Id="rId1" Type="http://schemas.openxmlformats.org/officeDocument/2006/relationships/slideLayout" Target="../slideLayouts/slideLayout1.xml"/>
        </Relationships>
</file>

<file path=ppt/slides/_rels/slide2.xml.rels><?xml version="1.0" encoding="UTF-8" standalone="yes"?>
        <Relationships xmlns="http://schemas.openxmlformats.org/package/2006/relationships">
        <Relationship Id="rId1" Type="http://schemas.openxmlformats.org/officeDocument/2006/relationships/slideLayout" Target="../slideLayouts/slideLayout1.xml"/>
        </Relationships>
</file>

<file path=ppt/slides/_rels/slide3.xml.rels><?xml version="1.0" encoding="UTF-8" standalone="yes"?>
        <Relationships xmlns="http://schemas.openxmlformats.org/package/2006/relationships">
        <Relationship Id="rId1" Type="http://schemas.openxmlformats.org/officeDocument/2006/relationships/slideLayout" Target="../slideLayouts/slideLayout1.xml"/>
        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300000" cy="6858000"/>
          </a:xfrm>
          <a:prstGeom prst="rect">
            <a:avLst/>
          </a:prstGeom>
          <a:solidFill>
            <a:srgbClr val="C27A4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8400000" y="0"/>
            <a:ext cx="3792000" cy="6858000"/>
          </a:xfrm>
          <a:prstGeom prst="rect">
            <a:avLst/>
          </a:prstGeom>
          <a:solidFill>
            <a:srgbClr val="E7E0D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750000" y="1050000"/>
            <a:ext cx="75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3600" b="1">
                <a:solidFill>
                  <a:srgbClr val="142437"/>
                </a:solidFill>
                <a:latin typeface="Aptos"/>
              </a:rPr>
              <a:t>WILBUR &amp; ORVILLE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750000" y="2100000"/>
            <a:ext cx="750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6200" b="1">
                <a:solidFill>
                  <a:srgbClr val="142437"/>
                </a:solidFill>
                <a:latin typeface="Aptos"/>
              </a:rPr>
              <a:t>WRIGHT</a:t>
            </a:r>
            <a:endParaRPr lang="en-US"/>
          </a:p>
        </p:txBody>
      </p:sp>
      <p:sp>
        <p:nvSpPr>
          <p:cNvPr id="6" name="Shape 6"/>
          <p:cNvSpPr/>
          <p:nvPr/>
        </p:nvSpPr>
        <p:spPr>
          <a:xfrm>
            <a:off x="760000" y="3450000"/>
            <a:ext cx="1500000" cy="55000"/>
          </a:xfrm>
          <a:prstGeom prst="rect">
            <a:avLst/>
          </a:prstGeom>
          <a:solidFill>
            <a:srgbClr val="C27A45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750000" y="3850000"/>
            <a:ext cx="685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400" b="0">
                <a:solidFill>
                  <a:srgbClr val="142437"/>
                </a:solidFill>
                <a:latin typeface="Aptos"/>
              </a:rPr>
              <a:t>Two brothers who learned how to fly</a:t>
            </a:r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750000" y="5750000"/>
            <a:ext cx="68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 b="0">
                <a:solidFill>
                  <a:srgbClr val="596A76"/>
                </a:solidFill>
                <a:latin typeface="Aptos"/>
              </a:rPr>
              <a:t>Dayton, Ohio  •  1903</a:t>
            </a:r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8600000" y="2450000"/>
            <a:ext cx="32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3800" b="1">
                <a:solidFill>
                  <a:srgbClr val="9A6545"/>
                </a:solidFill>
                <a:latin typeface="Aptos"/>
              </a:rPr>
              <a:t>IDEA</a:t>
            </a:r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8600000" y="3450000"/>
            <a:ext cx="32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3800" b="1">
                <a:solidFill>
                  <a:srgbClr val="9A6545"/>
                </a:solidFill>
                <a:latin typeface="Aptos"/>
              </a:rPr>
              <a:t>→ FLIGHT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230000"/>
          </a:xfrm>
          <a:prstGeom prst="rect">
            <a:avLst/>
          </a:prstGeom>
          <a:solidFill>
            <a:srgbClr val="C27A45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50000" y="500000"/>
            <a:ext cx="107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3800" b="1">
                <a:solidFill>
                  <a:srgbClr val="142437"/>
                </a:solidFill>
                <a:latin typeface="Aptos"/>
              </a:rPr>
              <a:t>How they solved flight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50000" y="127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100" b="0">
                <a:solidFill>
                  <a:srgbClr val="596A76"/>
                </a:solidFill>
                <a:latin typeface="Aptos"/>
              </a:rPr>
              <a:t>They built, measured, and improved one step at a time.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650000" y="2300000"/>
            <a:ext cx="3500000" cy="280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ED8CA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880000" y="2510000"/>
            <a:ext cx="5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3100" b="1">
                <a:solidFill>
                  <a:srgbClr val="C27A45"/>
                </a:solidFill>
                <a:latin typeface="Aptos"/>
              </a:rPr>
              <a:t>1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880000" y="3250000"/>
            <a:ext cx="3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600" b="1">
                <a:solidFill>
                  <a:srgbClr val="142437"/>
                </a:solidFill>
                <a:latin typeface="Aptos"/>
              </a:rPr>
              <a:t>TEST</a:t>
            </a:r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880000" y="3900000"/>
            <a:ext cx="2950000" cy="9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900" b="0">
                <a:solidFill>
                  <a:srgbClr val="445662"/>
                </a:solidFill>
                <a:latin typeface="Aptos"/>
              </a:rPr>
              <a:t>They learned from gliders.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4350000" y="2300000"/>
            <a:ext cx="3500000" cy="280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ED8CA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4580000" y="2510000"/>
            <a:ext cx="5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3100" b="1">
                <a:solidFill>
                  <a:srgbClr val="C27A45"/>
                </a:solidFill>
                <a:latin typeface="Aptos"/>
              </a:rPr>
              <a:t>2</a:t>
            </a:r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4580000" y="3250000"/>
            <a:ext cx="3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600" b="1">
                <a:solidFill>
                  <a:srgbClr val="142437"/>
                </a:solidFill>
                <a:latin typeface="Aptos"/>
              </a:rPr>
              <a:t>MEASURE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4580000" y="3900000"/>
            <a:ext cx="2950000" cy="9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900" b="0">
                <a:solidFill>
                  <a:srgbClr val="445662"/>
                </a:solidFill>
                <a:latin typeface="Aptos"/>
              </a:rPr>
              <a:t>A wind tunnel helped them study wings.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8050000" y="2300000"/>
            <a:ext cx="3500000" cy="280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ED8CA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8280000" y="2510000"/>
            <a:ext cx="5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3100" b="1">
                <a:solidFill>
                  <a:srgbClr val="C27A45"/>
                </a:solidFill>
                <a:latin typeface="Aptos"/>
              </a:rPr>
              <a:t>3</a:t>
            </a:r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8280000" y="3250000"/>
            <a:ext cx="3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600" b="1">
                <a:solidFill>
                  <a:srgbClr val="142437"/>
                </a:solidFill>
                <a:latin typeface="Aptos"/>
              </a:rPr>
              <a:t>BUILD</a:t>
            </a:r>
            <a:endParaRPr lang="en-US"/>
          </a:p>
        </p:txBody>
      </p:sp>
      <p:sp>
        <p:nvSpPr>
          <p:cNvPr id="16" name="Text 16"/>
          <p:cNvSpPr txBox="1"/>
          <p:nvPr/>
        </p:nvSpPr>
        <p:spPr>
          <a:xfrm>
            <a:off x="8280000" y="3900000"/>
            <a:ext cx="2950000" cy="9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900" b="0">
                <a:solidFill>
                  <a:srgbClr val="445662"/>
                </a:solidFill>
                <a:latin typeface="Aptos"/>
              </a:rPr>
              <a:t>They added control and power to the Flyer.</a:t>
            </a:r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650000" y="6200000"/>
            <a:ext cx="109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0">
                <a:solidFill>
                  <a:srgbClr val="6D777D"/>
                </a:solidFill>
                <a:latin typeface="Aptos"/>
              </a:rPr>
              <a:t>Source: National Park Service, “The Road to the First Flight”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230000"/>
          </a:xfrm>
          <a:prstGeom prst="rect">
            <a:avLst/>
          </a:prstGeom>
          <a:solidFill>
            <a:srgbClr val="C27A45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50000" y="47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3800" b="1">
                <a:solidFill>
                  <a:srgbClr val="142437"/>
                </a:solidFill>
                <a:latin typeface="Aptos"/>
              </a:rPr>
              <a:t>December 17, 1903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50000" y="1200000"/>
            <a:ext cx="105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100" b="0">
                <a:solidFill>
                  <a:srgbClr val="596A76"/>
                </a:solidFill>
                <a:latin typeface="Aptos"/>
              </a:rPr>
              <a:t>Near Kitty Hawk, North Carolina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650000" y="2050000"/>
            <a:ext cx="5200000" cy="2650000"/>
          </a:xfrm>
          <a:prstGeom prst="roundRect">
            <a:avLst/>
          </a:prstGeom>
          <a:solidFill>
            <a:srgbClr val="142437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850000" y="2320000"/>
            <a:ext cx="48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4200" b="1">
                <a:solidFill>
                  <a:srgbClr val="FFFFFF"/>
                </a:solidFill>
                <a:latin typeface="Aptos"/>
              </a:rPr>
              <a:t>12 seconds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850000" y="3300000"/>
            <a:ext cx="4800000" cy="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3600" b="1">
                <a:solidFill>
                  <a:srgbClr val="F0BB86"/>
                </a:solidFill>
                <a:latin typeface="Aptos"/>
              </a:rPr>
              <a:t>120 feet</a:t>
            </a:r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6500000" y="2150000"/>
            <a:ext cx="505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142437"/>
                </a:solidFill>
                <a:latin typeface="Aptos"/>
              </a:rPr>
              <a:t>Orville piloted the first flight.</a:t>
            </a:r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6500000" y="3050000"/>
            <a:ext cx="5000000" cy="10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100" b="0">
                <a:solidFill>
                  <a:srgbClr val="445662"/>
                </a:solidFill>
                <a:latin typeface="Aptos"/>
              </a:rPr>
              <a:t>The brothers made four flights that day, opening a new age of aviation.</a:t>
            </a:r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650000" y="5350000"/>
            <a:ext cx="10900000" cy="600000"/>
          </a:xfrm>
          <a:prstGeom prst="roundRect">
            <a:avLst/>
          </a:prstGeom>
          <a:solidFill>
            <a:srgbClr val="E7E0D0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50000" y="5420000"/>
            <a:ext cx="105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200" b="1">
                <a:solidFill>
                  <a:srgbClr val="142437"/>
                </a:solidFill>
                <a:latin typeface="Aptos"/>
              </a:rPr>
              <a:t>A small first flight changed how the world travels.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650000" y="6250000"/>
            <a:ext cx="1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0">
                <a:solidFill>
                  <a:srgbClr val="6D777D"/>
                </a:solidFill>
                <a:latin typeface="Aptos"/>
              </a:rPr>
              <a:t>Source: Smithsonian National Air and Space Museum, “1903 Wright Flyer”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">
  <a:themeElements>
    <a:clrScheme name="Simple">
      <a:dk1>
        <a:srgbClr val="142437"/>
      </a:dk1>
      <a:lt1>
        <a:srgbClr val="FFFFFF"/>
      </a:lt1>
      <a:dk2>
        <a:srgbClr val="445662"/>
      </a:dk2>
      <a:lt2>
        <a:srgbClr val="F8F5EE"/>
      </a:lt2>
      <a:accent1>
        <a:srgbClr val="C27A45"/>
      </a:accent1>
      <a:accent2>
        <a:srgbClr val="142437"/>
      </a:accent2>
      <a:accent3>
        <a:srgbClr val="E7E0D0"/>
      </a:accent3>
      <a:accent4>
        <a:srgbClr val="596A76"/>
      </a:accent4>
      <a:accent5>
        <a:srgbClr val="9A6545"/>
      </a:accent5>
      <a:accent6>
        <a:srgbClr val="445662"/>
      </a:accent6>
      <a:hlink>
        <a:srgbClr val="0000FF"/>
      </a:hlink>
      <a:folHlink>
        <a:srgbClr val="800080"/>
      </a:folHlink>
    </a:clrScheme>
    <a:fontScheme name="Simple">
      <a:majorFont>
        <a:latin typeface="Aptos Display"/>
      </a:majorFont>
      <a:minorFont>
        <a:latin typeface="Aptos"/>
      </a:minorFont>
    </a:fontScheme>
    <a:fmtScheme name="Simple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3</Slides>
</Properties>
</file>

<file path=docProps/core.xml><?xml version="1.0" encoding="utf-8"?>
<cp:coreProperties xmlns:cp="http://schemas.openxmlformats.org/package/2006/metadata/core-properties" xmlns:dc="http://purl.org/dc/elements/1.1/">
  <dc:title>Wilbur and Orville Wright</dc:title>
  <dc:creator>OpenAI</dc:creator>
</cp:coreProperties>
</file>