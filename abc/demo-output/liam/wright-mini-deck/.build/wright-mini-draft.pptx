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51c0ee82524d19" /><Relationship Type="http://schemas.openxmlformats.org/officeDocument/2006/relationships/extended-properties" Target="/docProps/app.xml" Id="R7fbfa5853cc64e3d" /><Relationship Type="http://schemas.openxmlformats.org/officeDocument/2006/relationships/officeDocument" Target="/ppt/presentation.xml" Id="R8d9e8572381147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e9a00e0d0a47b9"/>
  </p:sldMasterIdLst>
  <p:notesMasterIdLst>
    <p:notesMasterId xmlns:r="http://schemas.openxmlformats.org/officeDocument/2006/relationships" r:id="R6b378495deed4994"/>
  </p:notesMasterIdLst>
  <p:sldIdLst>
    <p:sldId xmlns:r="http://schemas.openxmlformats.org/officeDocument/2006/relationships" id="256" r:id="R4b87cf8ff1054367"/>
    <p:sldId xmlns:r="http://schemas.openxmlformats.org/officeDocument/2006/relationships" id="257" r:id="R7facb26679454e7e"/>
    <p:sldId xmlns:r="http://schemas.openxmlformats.org/officeDocument/2006/relationships" id="258" r:id="R4e94699e5d6c49fa"/>
    <p:sldId xmlns:r="http://schemas.openxmlformats.org/officeDocument/2006/relationships" id="259" r:id="R0621251359ba448d"/>
    <p:sldId xmlns:r="http://schemas.openxmlformats.org/officeDocument/2006/relationships" id="260" r:id="R7124512c1c0543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2906977222463f" /><Relationship Type="http://schemas.openxmlformats.org/officeDocument/2006/relationships/slideMaster" Target="/ppt/slideMasters/slideMaster1.xml" Id="R1de9a00e0d0a47b9" /><Relationship Type="http://schemas.openxmlformats.org/officeDocument/2006/relationships/notesMaster" Target="/ppt/notesMasters/notesMaster1.xml" Id="R6b378495deed4994" /><Relationship Type="http://schemas.openxmlformats.org/officeDocument/2006/relationships/presProps" Target="/ppt/presProps.xml" Id="R2b4c7195c04f4746" /><Relationship Type="http://schemas.openxmlformats.org/officeDocument/2006/relationships/tableStyles" Target="/ppt/tableStyles.xml" Id="R704ee4934cbf45bc" /><Relationship Type="http://schemas.openxmlformats.org/officeDocument/2006/relationships/slide" Target="/ppt/slides/slide1.xml" Id="R4b87cf8ff1054367" /><Relationship Type="http://schemas.openxmlformats.org/officeDocument/2006/relationships/slide" Target="/ppt/slides/slide2.xml" Id="R7facb26679454e7e" /><Relationship Type="http://schemas.openxmlformats.org/officeDocument/2006/relationships/slide" Target="/ppt/slides/slide3.xml" Id="R4e94699e5d6c49fa" /><Relationship Type="http://schemas.openxmlformats.org/officeDocument/2006/relationships/slide" Target="/ppt/slides/slide4.xml" Id="R0621251359ba448d" /><Relationship Type="http://schemas.openxmlformats.org/officeDocument/2006/relationships/slide" Target="/ppt/slides/slide5.xml" Id="R7124512c1c0543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03deb1fd784f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425194a99b4da9" /><Relationship Type="http://schemas.openxmlformats.org/officeDocument/2006/relationships/notesMaster" Target="/ppt/notesMasters/notesMaster1.xml" Id="Ra92294ef1e2547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e80b1c26274d9e" /><Relationship Type="http://schemas.openxmlformats.org/officeDocument/2006/relationships/notesMaster" Target="/ppt/notesMasters/notesMaster1.xml" Id="Rae6032a711d545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be89fbfe804e65" /><Relationship Type="http://schemas.openxmlformats.org/officeDocument/2006/relationships/notesMaster" Target="/ppt/notesMasters/notesMaster1.xml" Id="R6d048873db024b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f20532ac39467b" /><Relationship Type="http://schemas.openxmlformats.org/officeDocument/2006/relationships/notesMaster" Target="/ppt/notesMasters/notesMaster1.xml" Id="Ra0ec9e4e0ee94c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58a0959f4b4bfe" /><Relationship Type="http://schemas.openxmlformats.org/officeDocument/2006/relationships/notesMaster" Target="/ppt/notesMasters/notesMaster1.xml" Id="Rbca19ad258b747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context: The Wright brothers approached flight as a control problem as well as a problem of lift and power. Source: National Park Service, Wright Brothers, https://www.nps.gov/articles/wright-brothers.htm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brothers conducted extensive glider experiments at the Outer Banks before powered flight. Source: National Park Service, The First Flight, https://www.nps.gov/wrbr/learn/historyculture/thefirstflight.htm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Wrights built a small wind tunnel after concluding that existing lift tables were inaccurate. Source: National Park Service, The First Flight, https://www.nps.gov/wrbr/learn/historyculture/thefirstflight.htm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flight lasted 12 seconds and covered 120 feet; four powered flights took place that day. Sources: Smithsonian National Air and Space Museum, 1903 Wright Flyer, https://airandspace.si.edu/collection-objects/wright-1903-flyer/nasm_A19610048000; National Park Service, Four Powered Flights, https://www.nps.gov/places/3-four-powered-flights.htm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Wrights used wind tunnel research and flight testing as design tools, establishing a foundation for aeronautical engineering. Source: Smithsonian National Air and Space Museum, 1903 Wright Flyer, https://airandspace.si.edu/collection-objects/wright-1903-flyer/nasm_A19610048000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8ee0d47da4d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eca3db7e214108" /><Relationship Type="http://schemas.openxmlformats.org/officeDocument/2006/relationships/slideLayout" Target="/ppt/slideLayouts/slideLayout1.xml" Id="R9cbf574aab4548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bf574aab4548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7215b85ee456b" /><Relationship Type="http://schemas.openxmlformats.org/officeDocument/2006/relationships/image" Target="/ppt/media/image.png" Id="R4cbc9f1e85c04f7c" /><Relationship Type="http://schemas.openxmlformats.org/officeDocument/2006/relationships/notesSlide" Target="/ppt/notesSlides/notesSlide1.xml" Id="Rc53443982baa48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84d8a51a9411c" /><Relationship Type="http://schemas.openxmlformats.org/officeDocument/2006/relationships/image" Target="/ppt/media/image2.png" Id="R4c9b70d129be4553" /><Relationship Type="http://schemas.openxmlformats.org/officeDocument/2006/relationships/notesSlide" Target="/ppt/notesSlides/notesSlide2.xml" Id="R3038860767614b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02ce1f69c4947" /><Relationship Type="http://schemas.openxmlformats.org/officeDocument/2006/relationships/image" Target="/ppt/media/image3.png" Id="Rb9b3bcce1cb0481c" /><Relationship Type="http://schemas.openxmlformats.org/officeDocument/2006/relationships/notesSlide" Target="/ppt/notesSlides/notesSlide3.xml" Id="R690a666af9274d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87d1036064446" /><Relationship Type="http://schemas.openxmlformats.org/officeDocument/2006/relationships/image" Target="/ppt/media/image4.png" Id="R81557e8ace794d5c" /><Relationship Type="http://schemas.openxmlformats.org/officeDocument/2006/relationships/notesSlide" Target="/ppt/notesSlides/notesSlide4.xml" Id="Re65aa0cefb0744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e2dec29654826" /><Relationship Type="http://schemas.openxmlformats.org/officeDocument/2006/relationships/image" Target="/ppt/media/image5.png" Id="R2c46ba9a3e8747a0" /><Relationship Type="http://schemas.openxmlformats.org/officeDocument/2006/relationships/notesSlide" Target="/ppt/notesSlides/notesSlide5.xml" Id="R848c200b949444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1004575-26A6-418C-8A70-039AC083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E43"/>
          </a:solidFill>
          <a:ln xmlns:a="http://schemas.openxmlformats.org/drawingml/2006/main" w="0">
            <a:noFill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FE3B7E0-22CC-48D4-8F15-31DFA989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6E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E43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3AD19F8-6657-4A6E-A751-1712E442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5048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rPr>
              <a:t>Flight needed control,</a:t>
            </a:r>
          </a:p>
          <a:p xmlns:a="http://schemas.openxmlformats.org/drawingml/2006/main">
            <a:pPr>
              <a:def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rPr>
              <a:t>not just lift</a:t>
            </a:r>
          </a:p>
        </p:txBody>
      </p:sp>
      <p:sp>
        <p:nvSpPr>
          <p:cNvPr id="4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0E2FC831-C257-472C-93FB-75CD54AA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E43"/>
          </a:solidFill>
          <a:ln xmlns:a="http://schemas.openxmlformats.org/drawingml/2006/main" w="0">
            <a:noFill/>
          </a:ln>
        </p:spPr>
      </p:sp>
      <p:sp>
        <p:nvSpPr>
          <p:cNvPr id="5" name="Slide description">
            <a:extLst xmlns:a="http://schemas.openxmlformats.org/drawingml/2006/main">
              <a:ext uri="{FF2B5EF4-FFF2-40B4-BE49-F238E27FC236}">
                <a16:creationId xmlns:a16="http://schemas.microsoft.com/office/drawing/2014/main" id="{CF9BB6FA-7589-4991-ABC9-9A229AA3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rPr>
              <a:t>A machine could rise into the air. The harder problem was keeping it balanced and steering it safely.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c9f1e85c04f7c"/>
          <a:srcRect xmlns:a="http://schemas.openxmlformats.org/drawingml/2006/main" l="5238" t="0" r="52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1123950"/>
            <a:ext cx="53721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6DAD770-DB9D-420E-9FC8-087DC3A5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86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461973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1158A1F-30CF-43DC-B741-B2607B2B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E43"/>
          </a:solidFill>
          <a:ln xmlns:a="http://schemas.openxmlformats.org/drawingml/2006/main" w="0">
            <a:noFill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08C4746-9674-48A9-9564-0315134F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6E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E43"/>
                </a:solidFill>
                <a:latin typeface="Helvetica Neue"/>
                <a:ea typeface="Helvetica Neue"/>
                <a:cs typeface="Helvetica Neue"/>
              </a:rPr>
              <a:t>THE EXPERIMENTS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E73F9F7-ECAE-423F-8DF8-6F25A951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5048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rPr>
              <a:t>They learned by</a:t>
            </a:r>
          </a:p>
          <a:p xmlns:a="http://schemas.openxmlformats.org/drawingml/2006/main">
            <a:pPr>
              <a:def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rPr>
              <a:t>flying gliders</a:t>
            </a:r>
          </a:p>
        </p:txBody>
      </p:sp>
      <p:sp>
        <p:nvSpPr>
          <p:cNvPr id="4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46C9CBC3-FB95-4BE9-93ED-FDD4FA4D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E43"/>
          </a:solidFill>
          <a:ln xmlns:a="http://schemas.openxmlformats.org/drawingml/2006/main" w="0">
            <a:noFill/>
          </a:ln>
        </p:spPr>
      </p:sp>
      <p:sp>
        <p:nvSpPr>
          <p:cNvPr id="5" name="Slide description">
            <a:extLst xmlns:a="http://schemas.openxmlformats.org/drawingml/2006/main">
              <a:ext uri="{FF2B5EF4-FFF2-40B4-BE49-F238E27FC236}">
                <a16:creationId xmlns:a16="http://schemas.microsoft.com/office/drawing/2014/main" id="{B137B8EB-1E29-4362-AB91-9B7917C1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rPr>
              <a:t>At Kitty Hawk, repeated glides gave Wilbur and Orville practical flying skill and exposed what their designs could not yet do.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b70d129be4553"/>
          <a:srcRect xmlns:a="http://schemas.openxmlformats.org/drawingml/2006/main" l="5238" t="0" r="52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1123950"/>
            <a:ext cx="53721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87F63DB-B339-44E4-B538-2D41FB9C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86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rPr>
              <a:t>02 / 05</a:t>
            </a:r>
          </a:p>
        </p:txBody>
      </p:sp>
    </p:spTree>
    <p:extLst>
      <p:ext uri="{BB962C8B-B14F-4D97-AF65-F5344CB8AC3E}">
        <p14:creationId xmlns:p14="http://schemas.microsoft.com/office/powerpoint/2010/main" val="138064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C67EE68-5758-449C-AF24-B9A780DF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E43"/>
          </a:solidFill>
          <a:ln xmlns:a="http://schemas.openxmlformats.org/drawingml/2006/main" w="0">
            <a:noFill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549073C-B736-4DCA-ACB8-238C175C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6E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E43"/>
                </a:solidFill>
                <a:latin typeface="Helvetica Neue"/>
                <a:ea typeface="Helvetica Neue"/>
                <a:cs typeface="Helvetica Neue"/>
              </a:rPr>
              <a:t>THE BREAKTHROUGH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60E6F53-8E9F-4866-B8FD-EBDC0FF2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5048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rPr>
              <a:t>A wind tunnel turned</a:t>
            </a:r>
          </a:p>
          <a:p xmlns:a="http://schemas.openxmlformats.org/drawingml/2006/main">
            <a:pPr>
              <a:def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rPr>
              <a:t>guesswork into data</a:t>
            </a:r>
          </a:p>
        </p:txBody>
      </p:sp>
      <p:sp>
        <p:nvSpPr>
          <p:cNvPr id="4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783CEC04-6BED-45D4-AEBA-3C3E10BC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E43"/>
          </a:solidFill>
          <a:ln xmlns:a="http://schemas.openxmlformats.org/drawingml/2006/main" w="0">
            <a:noFill/>
          </a:ln>
        </p:spPr>
      </p:sp>
      <p:sp>
        <p:nvSpPr>
          <p:cNvPr id="5" name="Slide description">
            <a:extLst xmlns:a="http://schemas.openxmlformats.org/drawingml/2006/main">
              <a:ext uri="{FF2B5EF4-FFF2-40B4-BE49-F238E27FC236}">
                <a16:creationId xmlns:a16="http://schemas.microsoft.com/office/drawing/2014/main" id="{E48AA050-0868-4FE8-9AAD-5FC1D4E4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rPr>
              <a:t>Their own tests showed that published lift figures were unreliable. A small wind tunnel let them compare wing shapes and design with evidence.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3bcce1cb0481c"/>
          <a:srcRect xmlns:a="http://schemas.openxmlformats.org/drawingml/2006/main" l="5238" t="0" r="52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1123950"/>
            <a:ext cx="53721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2F88CE9-FFF8-4B60-98C7-0D98C403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86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rPr>
              <a:t>03 / 05</a:t>
            </a:r>
          </a:p>
        </p:txBody>
      </p:sp>
    </p:spTree>
    <p:extLst>
      <p:ext uri="{BB962C8B-B14F-4D97-AF65-F5344CB8AC3E}">
        <p14:creationId xmlns:p14="http://schemas.microsoft.com/office/powerpoint/2010/main" val="28853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BDB772D-05C3-4E38-8D07-7629CE4B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E43"/>
          </a:solidFill>
          <a:ln xmlns:a="http://schemas.openxmlformats.org/drawingml/2006/main" w="0">
            <a:noFill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A9E3705-AEDD-453A-A26C-6B97E2B3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6E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E43"/>
                </a:solidFill>
                <a:latin typeface="Helvetica Neue"/>
                <a:ea typeface="Helvetica Neue"/>
                <a:cs typeface="Helvetica Neue"/>
              </a:rPr>
              <a:t>THE FIRST FLIGHT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953EB2C-5DD5-4276-BB55-9B3C8D2E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5048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74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rPr>
              <a:t>December 17, 1903</a:t>
            </a:r>
          </a:p>
          <a:p xmlns:a="http://schemas.openxmlformats.org/drawingml/2006/main">
            <a:pPr>
              <a:def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rPr>
              <a:t>Kitty Hawk, North Carolina</a:t>
            </a:r>
          </a:p>
        </p:txBody>
      </p:sp>
      <p:sp>
        <p:nvSpPr>
          <p:cNvPr id="4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F671572B-2725-4235-912F-88CF9647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E43"/>
          </a:solidFill>
          <a:ln xmlns:a="http://schemas.openxmlformats.org/drawingml/2006/main" w="0">
            <a:noFill/>
          </a:ln>
        </p:spPr>
      </p:sp>
      <p:sp>
        <p:nvSpPr>
          <p:cNvPr id="5" name="Slide description">
            <a:extLst xmlns:a="http://schemas.openxmlformats.org/drawingml/2006/main">
              <a:ext uri="{FF2B5EF4-FFF2-40B4-BE49-F238E27FC236}">
                <a16:creationId xmlns:a16="http://schemas.microsoft.com/office/drawing/2014/main" id="{7CD32C71-39AE-47B7-9179-90935E5F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rPr>
              <a:t>Orville piloted the first successful powered flight. The brothers made four flights that morning, improving their distance each time.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57e8ace794d5c"/>
          <a:srcRect xmlns:a="http://schemas.openxmlformats.org/drawingml/2006/main" l="0" t="1463" r="0" b="1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685800"/>
            <a:ext cx="5372100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First flight duration">
            <a:extLst xmlns:a="http://schemas.openxmlformats.org/drawingml/2006/main">
              <a:ext uri="{FF2B5EF4-FFF2-40B4-BE49-F238E27FC236}">
                <a16:creationId xmlns:a16="http://schemas.microsoft.com/office/drawing/2014/main" id="{D7C0273C-1260-4B4F-830F-8E049C41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8" name="Duration label">
            <a:extLst xmlns:a="http://schemas.openxmlformats.org/drawingml/2006/main">
              <a:ext uri="{FF2B5EF4-FFF2-40B4-BE49-F238E27FC236}">
                <a16:creationId xmlns:a16="http://schemas.microsoft.com/office/drawing/2014/main" id="{D8EC33C3-AD1C-4881-8225-19179BD6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816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6E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E43"/>
                </a:solidFill>
                <a:latin typeface="Helvetica Neue"/>
                <a:ea typeface="Helvetica Neue"/>
                <a:cs typeface="Helvetica Neue"/>
              </a:rPr>
              <a:t>SECONDS</a:t>
            </a:r>
          </a:p>
        </p:txBody>
      </p:sp>
      <p:sp>
        <p:nvSpPr>
          <p:cNvPr id="9" name="Metric divider">
            <a:extLst xmlns:a="http://schemas.openxmlformats.org/drawingml/2006/main">
              <a:ext uri="{FF2B5EF4-FFF2-40B4-BE49-F238E27FC236}">
                <a16:creationId xmlns:a16="http://schemas.microsoft.com/office/drawing/2014/main" id="{7DF08C36-192D-45BA-8423-C40618F0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19625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2"/>
          </a:solidFill>
          <a:ln xmlns:a="http://schemas.openxmlformats.org/drawingml/2006/main" w="0">
            <a:noFill/>
          </a:ln>
        </p:spPr>
      </p:sp>
      <p:sp>
        <p:nvSpPr>
          <p:cNvPr id="10" name="First flight distance">
            <a:extLst xmlns:a="http://schemas.openxmlformats.org/drawingml/2006/main">
              <a:ext uri="{FF2B5EF4-FFF2-40B4-BE49-F238E27FC236}">
                <a16:creationId xmlns:a16="http://schemas.microsoft.com/office/drawing/2014/main" id="{3ECCF5EA-1630-4EED-AF36-D4877B60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7200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rPr>
              <a:t>120</a:t>
            </a:r>
          </a:p>
        </p:txBody>
      </p:sp>
      <p:sp>
        <p:nvSpPr>
          <p:cNvPr id="11" name="Distance label">
            <a:extLst xmlns:a="http://schemas.openxmlformats.org/drawingml/2006/main">
              <a:ext uri="{FF2B5EF4-FFF2-40B4-BE49-F238E27FC236}">
                <a16:creationId xmlns:a16="http://schemas.microsoft.com/office/drawing/2014/main" id="{3C3E16F5-149F-4F31-8BED-D5D35309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81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6E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E43"/>
                </a:solidFill>
                <a:latin typeface="Helvetica Neue"/>
                <a:ea typeface="Helvetica Neue"/>
                <a:cs typeface="Helvetica Neue"/>
              </a:rPr>
              <a:t>FEET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056490-E71C-44FA-B5F3-DDAD725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86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rPr>
              <a:t>04 / 05</a:t>
            </a:r>
          </a:p>
        </p:txBody>
      </p:sp>
    </p:spTree>
    <p:extLst>
      <p:ext uri="{BB962C8B-B14F-4D97-AF65-F5344CB8AC3E}">
        <p14:creationId xmlns:p14="http://schemas.microsoft.com/office/powerpoint/2010/main" val="815691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4062749-733C-4D56-B0A4-17A496D1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E43"/>
          </a:solidFill>
          <a:ln xmlns:a="http://schemas.openxmlformats.org/drawingml/2006/main" w="0">
            <a:noFill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EE1CE43-4869-42C1-A305-AD6839FA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6E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E43"/>
                </a:solidFill>
                <a:latin typeface="Helvetica Neue"/>
                <a:ea typeface="Helvetica Neue"/>
                <a:cs typeface="Helvetica Neue"/>
              </a:rPr>
              <a:t>THE ENDURING LESSON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B3CE545-7077-441B-B37A-CF5A63CA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5048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rPr>
              <a:t>Progress came from</a:t>
            </a:r>
          </a:p>
          <a:p xmlns:a="http://schemas.openxmlformats.org/drawingml/2006/main">
            <a:pPr>
              <a:def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42437"/>
                </a:solidFill>
                <a:latin typeface="Helvetica Neue"/>
                <a:ea typeface="Helvetica Neue"/>
                <a:cs typeface="Helvetica Neue"/>
              </a:rPr>
              <a:t>learning what failed</a:t>
            </a:r>
          </a:p>
        </p:txBody>
      </p:sp>
      <p:sp>
        <p:nvSpPr>
          <p:cNvPr id="4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9F330FF9-24D2-4E84-817A-326B539F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E43"/>
          </a:solidFill>
          <a:ln xmlns:a="http://schemas.openxmlformats.org/drawingml/2006/main" w="0">
            <a:noFill/>
          </a:ln>
        </p:spPr>
      </p:sp>
      <p:sp>
        <p:nvSpPr>
          <p:cNvPr id="5" name="Slide description">
            <a:extLst xmlns:a="http://schemas.openxmlformats.org/drawingml/2006/main">
              <a:ext uri="{FF2B5EF4-FFF2-40B4-BE49-F238E27FC236}">
                <a16:creationId xmlns:a16="http://schemas.microsoft.com/office/drawing/2014/main" id="{82D2BEAA-81D2-4951-BB4D-ED2477FA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rPr>
              <a:t>They tested, measured, and redesigned before adding an engine. Careful evidence and steady iteration made controlled flight possible.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6ba9a3e8747a0"/>
          <a:srcRect xmlns:a="http://schemas.openxmlformats.org/drawingml/2006/main" l="5238" t="0" r="52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1123950"/>
            <a:ext cx="53721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3BF423F-5D8F-4CE4-AAB5-B7EAFB5F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86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6A"/>
                </a:solidFill>
                <a:latin typeface="Helvetica Neue"/>
                <a:ea typeface="Helvetica Neue"/>
                <a:cs typeface="Helvetica Neue"/>
              </a:rPr>
              <a:t>05 / 05</a:t>
            </a:r>
          </a:p>
        </p:txBody>
      </p:sp>
    </p:spTree>
    <p:extLst>
      <p:ext uri="{BB962C8B-B14F-4D97-AF65-F5344CB8AC3E}">
        <p14:creationId xmlns:p14="http://schemas.microsoft.com/office/powerpoint/2010/main" val="1402473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2026-09-27T09:23:05.5870000Z</dcterms:created>
  <dcterms:modified xsi:type="dcterms:W3CDTF">2026-09-27T09:23:05.5870000Z</dcterms:modified>
</coreProperties>
</file>