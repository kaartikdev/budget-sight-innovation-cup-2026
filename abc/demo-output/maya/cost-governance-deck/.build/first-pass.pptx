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b9b0bafb514fd6" /><Relationship Type="http://schemas.openxmlformats.org/officeDocument/2006/relationships/extended-properties" Target="/docProps/app.xml" Id="R7d87583316154ec4" /><Relationship Type="http://schemas.openxmlformats.org/officeDocument/2006/relationships/officeDocument" Target="/ppt/presentation.xml" Id="Rc75774eeaff1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6888c93794984"/>
  </p:sldMasterIdLst>
  <p:notesMasterIdLst>
    <p:notesMasterId xmlns:r="http://schemas.openxmlformats.org/officeDocument/2006/relationships" r:id="R5d5d250168da4f28"/>
  </p:notesMasterIdLst>
  <p:sldIdLst>
    <p:sldId xmlns:r="http://schemas.openxmlformats.org/officeDocument/2006/relationships" id="256" r:id="R7914247899bc4a20"/>
    <p:sldId xmlns:r="http://schemas.openxmlformats.org/officeDocument/2006/relationships" id="257" r:id="R91a757ba8f22440e"/>
    <p:sldId xmlns:r="http://schemas.openxmlformats.org/officeDocument/2006/relationships" id="258" r:id="R0deab63104224878"/>
    <p:sldId xmlns:r="http://schemas.openxmlformats.org/officeDocument/2006/relationships" id="259" r:id="Re32827a15c44456e"/>
    <p:sldId xmlns:r="http://schemas.openxmlformats.org/officeDocument/2006/relationships" id="260" r:id="R5de0711ee7ad4a83"/>
    <p:sldId xmlns:r="http://schemas.openxmlformats.org/officeDocument/2006/relationships" id="261" r:id="Rccf0e6e00cb14020"/>
    <p:sldId xmlns:r="http://schemas.openxmlformats.org/officeDocument/2006/relationships" id="262" r:id="R7be3f1330f84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af9022ba794c73" /><Relationship Type="http://schemas.openxmlformats.org/officeDocument/2006/relationships/slideMaster" Target="/ppt/slideMasters/slideMaster1.xml" Id="R5306888c93794984" /><Relationship Type="http://schemas.openxmlformats.org/officeDocument/2006/relationships/notesMaster" Target="/ppt/notesMasters/notesMaster1.xml" Id="R5d5d250168da4f28" /><Relationship Type="http://schemas.openxmlformats.org/officeDocument/2006/relationships/presProps" Target="/ppt/presProps.xml" Id="R92510425ad1349df" /><Relationship Type="http://schemas.openxmlformats.org/officeDocument/2006/relationships/tableStyles" Target="/ppt/tableStyles.xml" Id="Rc0f11f8ea18244b9" /><Relationship Type="http://schemas.openxmlformats.org/officeDocument/2006/relationships/slide" Target="/ppt/slides/slide1.xml" Id="R7914247899bc4a20" /><Relationship Type="http://schemas.openxmlformats.org/officeDocument/2006/relationships/slide" Target="/ppt/slides/slide2.xml" Id="R91a757ba8f22440e" /><Relationship Type="http://schemas.openxmlformats.org/officeDocument/2006/relationships/slide" Target="/ppt/slides/slide3.xml" Id="R0deab63104224878" /><Relationship Type="http://schemas.openxmlformats.org/officeDocument/2006/relationships/slide" Target="/ppt/slides/slide4.xml" Id="Re32827a15c44456e" /><Relationship Type="http://schemas.openxmlformats.org/officeDocument/2006/relationships/slide" Target="/ppt/slides/slide5.xml" Id="R5de0711ee7ad4a83" /><Relationship Type="http://schemas.openxmlformats.org/officeDocument/2006/relationships/slide" Target="/ppt/slides/slide6.xml" Id="Rccf0e6e00cb14020" /><Relationship Type="http://schemas.openxmlformats.org/officeDocument/2006/relationships/slide" Target="/ppt/slides/slide7.xml" Id="R7be3f1330f84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e0f73fa10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77ea5db454fbe" /><Relationship Type="http://schemas.openxmlformats.org/officeDocument/2006/relationships/notesMaster" Target="/ppt/notesMasters/notesMaster1.xml" Id="R21ddd132198e49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936bcd89ce44e8" /><Relationship Type="http://schemas.openxmlformats.org/officeDocument/2006/relationships/notesMaster" Target="/ppt/notesMasters/notesMaster1.xml" Id="Rf92bf6d78186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aa0294fc7480a" /><Relationship Type="http://schemas.openxmlformats.org/officeDocument/2006/relationships/notesMaster" Target="/ppt/notesMasters/notesMaster1.xml" Id="R82444c406ca5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b4f4226f094451" /><Relationship Type="http://schemas.openxmlformats.org/officeDocument/2006/relationships/notesMaster" Target="/ppt/notesMasters/notesMaster1.xml" Id="Rfdeeab262508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5ce367f12b4b9f" /><Relationship Type="http://schemas.openxmlformats.org/officeDocument/2006/relationships/notesMaster" Target="/ppt/notesMasters/notesMaster1.xml" Id="R40615933caf7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4f31ce626462e" /><Relationship Type="http://schemas.openxmlformats.org/officeDocument/2006/relationships/notesMaster" Target="/ppt/notesMasters/notesMaster1.xml" Id="R436d4bb493e2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9e018e3254399" /><Relationship Type="http://schemas.openxmlformats.org/officeDocument/2006/relationships/notesMaster" Target="/ppt/notesMasters/notesMaster1.xml" Id="Rfba5cbf2e41f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values below are illustrative indices for a demo workload, not measured financial or operational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operating model for BudgetSight demo; no company-specific spend data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for discussion: sponsor a 90-day pilot. Scope and thresholds should be confirmed by Finance, Platform, and workload owners. All example metrics elsewhere in this deck are illustrative, not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3c09e6e8e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ac5972c34452b" /><Relationship Type="http://schemas.openxmlformats.org/officeDocument/2006/relationships/slideLayout" Target="/ppt/slideLayouts/slideLayout1.xml" Id="Rc6c30e019a3f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c30e019a3f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332d474f1401e" /><Relationship Type="http://schemas.openxmlformats.org/officeDocument/2006/relationships/notesSlide" Target="/ppt/notesSlides/notesSlide1.xml" Id="R5adb50a4aedd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aefe2d114592" /><Relationship Type="http://schemas.openxmlformats.org/officeDocument/2006/relationships/notesSlide" Target="/ppt/notesSlides/notesSlide2.xml" Id="R2a4ebbfb7a6b48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4922321d24a89" /><Relationship Type="http://schemas.openxmlformats.org/officeDocument/2006/relationships/notesSlide" Target="/ppt/notesSlides/notesSlide3.xml" Id="R92f8021dc81e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c85841e4a40f1" /><Relationship Type="http://schemas.openxmlformats.org/officeDocument/2006/relationships/notesSlide" Target="/ppt/notesSlides/notesSlide4.xml" Id="R9163ce52c6704d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1737662de49fe" /><Relationship Type="http://schemas.openxmlformats.org/officeDocument/2006/relationships/notesSlide" Target="/ppt/notesSlides/notesSlide5.xml" Id="Rc1589a7053774d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299b17a024d69" /><Relationship Type="http://schemas.openxmlformats.org/officeDocument/2006/relationships/notesSlide" Target="/ppt/notesSlides/notesSlide6.xml" Id="R842e827f0ead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55aa06c4d4545" /><Relationship Type="http://schemas.openxmlformats.org/officeDocument/2006/relationships/notesSlide" Target="/ppt/notesSlides/notesSlide7.xml" Id="R5ceeea23c5224a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7C85B-058D-4B51-AA7E-FDEDD67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0D3FE-9B55-49F1-85A5-87AA0C84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Agent spend has a visibility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586CB-61C4-4667-85E7-E1587F75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Costs fragment across models, tools, and teams before finance can explain the bill.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F817F-5A4E-4837-A4AC-0C7CFBB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31379-7556-4521-9631-4351982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D052D-3248-4FC7-9D56-7599B8EC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F6B20-BD14-4125-B5BC-FE799FDD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TODAY: SCATTERED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D4266-B7DE-44C9-B09C-4C10E0B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F5F93-6269-4B26-8AF0-9F1F4D3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MODEL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F478-23EF-4272-9C8E-8687E4B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03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$18.4k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65DAA-4169-4DC6-92F6-5FFC0B7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48E19-4360-4A9D-B4D6-00AAC3F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75D21-CEC4-4CBD-95E4-40016CF2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TOOL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98714-23F2-45F5-A531-02C5B22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480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$6.2k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D342E-27DC-4DAF-9A76-3B3C13B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CAF3D-90DD-4538-8888-423E82B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99F98-AFEF-47B6-B2D9-0C3E00C5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RETRIES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F7F48-A0E2-4034-995E-DCD677AF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957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$4.1k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F6744-82F5-4E6C-8299-A8B3BE1E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AC7AA-49F6-4075-877D-CDAB6A8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42FD9-C1EF-4A8A-A7CC-EBDB946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762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SHARED 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65E84-21A8-435D-9511-0A3A0E2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434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$3.8k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EDABA-9BEE-4E4E-9F87-2090E85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4F738-D4AF-4B70-8AB9-B886843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8100" cy="2276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6A5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6E44E-7E83-4975-B147-B0EA3912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shared unit</a:t>
            </a:r>
          </a:p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owner</a:t>
            </a:r>
          </a:p>
          <a:p xmlns:a="http://schemas.openxmlformats.org/drawingml/2006/main">
            <a:pPr algn="l">
              <a:def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 outcome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EF41A-CD0D-4C16-B199-4A8AB84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671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C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ADBA1-3B10-461D-8271-18D66D45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2286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001F8-458F-4D8B-AEA2-4FC5816F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714625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5283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8629C-B1A0-4D34-BF8E-B8FFA5C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GOVERNED 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17669-BFCF-4135-A253-F22981D1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workload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owner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cost-to-outcome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1AFA4-DE6A-4E4A-8DF0-37FBD08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Illustrative monthly spend fragments shown for structure only.</a:t>
            </a:r>
          </a:p>
        </p:txBody>
      </p:sp>
    </p:spTree>
    <p:extLst>
      <p:ext uri="{BB962C8B-B14F-4D97-AF65-F5344CB8AC3E}">
        <p14:creationId xmlns:p14="http://schemas.microsoft.com/office/powerpoint/2010/main" val="833883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55739-E061-45FA-B035-40804F4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999D-1A08-451A-B31C-80EB22B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Normalize workloads before comparing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F839-FBF3-4FC3-A282-E6038C57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A shared unit makes unlike agent runs comparable across teams and providers.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6943A-AF8C-4458-81CD-0A22086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2C97B-6569-4742-8DC0-741C269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CA8D0-C688-464C-A612-5DFF6882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EA590-3EB5-4086-A7ED-F6B1D8A1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496A-B4D5-411B-A948-1AA61AB2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USAGE /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5D06E-8CE5-476C-89FA-AD68819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24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/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CDA7B-4B86-45F9-8B61-92D3D143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9CB49-F1B2-4475-8979-8555577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5284B-0819-427A-B4CA-B307AE51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Support 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ECE04-3E2D-4250-8639-79649E1D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4.2k tokens · 3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01D32-3DCC-4598-8F80-C59D4E3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050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$0.084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85203-61D1-443A-A786-72884D49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B9C0-5D81-440E-A9A4-FCEA566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03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B2FE5-1D7C-4653-B7B3-6D802E75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193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Tracked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8ABA7-06FC-4961-A251-C2EE8D2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1394C-AA36-4400-B2FE-18135BB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Invoice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88BBE-4038-4493-BBE3-B2EC249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432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8.6k tokens · 2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028BA-9AC3-4317-9F08-F1661A2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432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$0.126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B530D-9520-4737-95E0-FA11269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3307A-D1BE-4AB3-A19E-1AF9AC8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385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71D4D-F88F-4171-B88D-521EF6E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575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Tracked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EB59B-0417-403A-92C2-44B077C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F0DAC-14AB-4328-8336-373A336F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Code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8B25C-8AB9-4D0F-8752-C0D30DF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8147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12.1k tokens · 5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6321A-B28F-4D6C-9927-22EE447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814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$0.392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84C59-8D40-467D-92BE-A8FB59A4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Engineering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61FE1-BB5A-4698-B9D5-43B60EA7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76725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80755-A97F-4B43-A25F-39251920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957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F3411-8BFD-4EAF-B4D6-64EEFE0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283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2C4E6-F5EC-416F-831B-87E4CC6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Unit of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5C4E8-61A9-4EF1-A408-BD6743F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006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Cost per successful task, segmented by workload and owner</a:t>
            </a:r>
          </a:p>
        </p:txBody>
      </p:sp>
    </p:spTree>
    <p:extLst>
      <p:ext uri="{BB962C8B-B14F-4D97-AF65-F5344CB8AC3E}">
        <p14:creationId xmlns:p14="http://schemas.microsoft.com/office/powerpoint/2010/main" val="1706702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3D6BFF-3EB2-492B-A74C-BA6B8D8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DC334-0B0D-4C6D-B1B9-8EC2EB7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alone cannot rank agent workloads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03A6B-AEED-4582-9E2A-1433FEB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Pair cost with task success and business value to decide where to scale, tune, or stop.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9728C-E513-4A01-9BBB-AF6481B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88F07-51F7-4CBB-8411-CC22A2B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D689B-127B-4081-B666-6E8CC3D8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506E6-327E-4DFA-97E0-6BD7505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8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5A1F0-8750-4514-A603-4C7A1901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8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2A4A9-CD95-4F30-AEBD-CC0E0F0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54827-972D-4744-8085-2D570DEF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0261D-620B-4155-882B-F1229A25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2A428-4E69-4D4B-B90C-BE0839F8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03B36-4F0E-4234-BA7B-8519112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LOWER COST / SUCCESSFUL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A8D74-B233-44F1-9435-289E1FA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HIGHER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92D55-D0B4-4C87-ADBF-9C690011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90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13594-F4CB-41AF-9F5A-A003EA2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4205C-BFDA-4060-8FFC-989C70EE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33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2A785-E313-4643-B1E5-F2A74AE1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62C29-AFBA-4EF6-8B28-6259DA98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43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Invoice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D3190-0563-495D-968A-C0FACAD3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6A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B2BDD-E645-42B0-A70D-238CF01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Code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56D38-86C2-4C98-AAA4-22A3082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05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D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F1A8E-1EE2-4F9C-B658-BD23D275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95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80332-3308-4B1C-9F62-22816CC7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Decision zones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59DB2-BE0C-4E3A-9579-C3C00050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33675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3782F-72E7-4567-B59D-E781579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38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BFB9D-4E71-4816-BAD4-9A20B1CC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Strong outcome · efficient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6079F-0F63-4524-9069-431A47A9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36DDC-5216-4C6E-8396-1F74EF3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6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B6B12"/>
                </a:solidFill>
                <a:latin typeface="Helvetica Neue"/>
                <a:ea typeface="Helvetica Neue"/>
                <a:cs typeface="Helvetica Neue"/>
              </a:rPr>
              <a:t>TUNE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C7A02-DB70-4C61-B55E-28824C2C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719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Strong outcome · costly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47873-EE1E-41B9-957D-977BD7B1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43425"/>
            <a:ext cx="2724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04AA6-73F3-4DA4-AAF3-3AD2D5A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48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D193C-0D73-47E5-9B89-DEC4062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Weak outcome · costly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CB4F5-EB48-45CD-9D1B-EE940AB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143625"/>
            <a:ext cx="8096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Illustrative relative indices; bubble size is not a reported spend value.</a:t>
            </a:r>
          </a:p>
        </p:txBody>
      </p:sp>
    </p:spTree>
    <p:extLst>
      <p:ext uri="{BB962C8B-B14F-4D97-AF65-F5344CB8AC3E}">
        <p14:creationId xmlns:p14="http://schemas.microsoft.com/office/powerpoint/2010/main" val="1017088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9E11F-E78D-4E61-BA72-180D986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5B730-A3BD-4424-8555-6832C49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Coordination creates hidden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6140A-2EF0-42A4-9101-65C9BCB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Parallel agents can repeat retrieval, planning, and verification work unless handoffs are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119B1-CA61-431D-9EFD-F7864BE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2456-6ECB-4A1B-A79D-88851F5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F1B1-0518-4501-8385-527E2B0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1DA9E-BF18-4386-B8B5-24BB96D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SHARED TASK: PREPARE AN ACCOUNT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E0921-4170-499E-9499-CDFEF6DA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Researcher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065EF-A740-426E-8F1D-147476F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55953-2D20-4031-94ED-E5E8F9A1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20718-F28E-42EA-97DA-7EA37E58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955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3961-3626-432E-B17E-9B7E2336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79BF1-71CF-41E6-848D-BF51D04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EF853-2ECB-46B5-9962-91F19CE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C7D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D6E88-3E41-4D49-B0A3-119A0651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7B0AD-88F6-476A-8E63-E13152A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Writer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2429-8066-414C-85C1-12A966E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884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C01A9-4002-4568-9A30-13BB704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2FCD9-B56F-4F52-87F6-71083C9B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386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Retrieve account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B917D-5E5F-495F-8CD0-9A31B1E9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9525">
            <a:solidFill>
              <a:srgbClr val="D36A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51122-62E9-4D5F-8F39-9CC1070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955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Same sources retrieved again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306D1-BF51-49F6-A324-A28EB09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AF0"/>
          </a:solidFill>
          <a:ln xmlns:a="http://schemas.openxmlformats.org/drawingml/2006/main" w="9525">
            <a:solidFill>
              <a:srgbClr val="5C7D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C3668-60C5-4334-BF51-24F9270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6712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7D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7D99"/>
                </a:solidFill>
                <a:latin typeface="Helvetica Neue"/>
                <a:ea typeface="Helvetica Neue"/>
                <a:cs typeface="Helvetica Neue"/>
              </a:rPr>
              <a:t>Plan repeats research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EFD05-5A58-4D44-850A-42A0BEE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9525">
            <a:solidFill>
              <a:srgbClr val="B4852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779EA-D29E-4ABA-A01E-163E332C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386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4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6419"/>
                </a:solidFill>
                <a:latin typeface="Helvetica Neue"/>
                <a:ea typeface="Helvetica Neue"/>
                <a:cs typeface="Helvetica Neue"/>
              </a:rPr>
              <a:t>Draft starts without a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F53AA-7976-4A97-BD4F-E2450D3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Measure overlap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0BB7E-7202-4A42-8A2E-EF72FA1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05450"/>
            <a:ext cx="785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duplicate tool calls   ·   repeated tokens   ·   idle handoff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71BE4-66B1-4CA2-A761-6128476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Control: assign a task owner, shared context boundary, and stop condition.</a:t>
            </a:r>
          </a:p>
        </p:txBody>
      </p:sp>
    </p:spTree>
    <p:extLst>
      <p:ext uri="{BB962C8B-B14F-4D97-AF65-F5344CB8AC3E}">
        <p14:creationId xmlns:p14="http://schemas.microsoft.com/office/powerpoint/2010/main" val="1343407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7C807-18DD-4DCF-B608-03033099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E1D0D-2AAF-45AC-A771-65F764C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Validation gaps turn low cost into expensive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4F09-6E28-49FA-860B-D079B27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Track quality, policy, and latency alongside dollars before a workload 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35486-5AE5-4E60-8CD7-01A651A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87A8E-4ED0-4AB4-9E83-345D9731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B7F8A-6925-4A7B-9E23-274EF32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B39C-354F-462F-A8A8-C5A73EB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3A828-F8DA-4947-A364-49D9B7D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FA03E-379B-4ACB-8E4F-97054CF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9E3B0-252B-4AFA-A3A7-1098198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Per run +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74B63-17A5-4981-978D-A7CA067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39149-FE1E-44AF-BF4B-680BC68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F53B3-328A-49EF-80D1-3CFE09E3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F47F6-21F2-47EB-9FD1-753A3263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4D80-35F1-40E1-915B-6B7C9E2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Quality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3551F-076A-4F01-A006-05B64A2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Task 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AE628-CCE5-4EE7-A280-13C84D5B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AEE75-618A-4214-BAC6-B3737875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B2E0B-9FB4-48A6-8A41-D5D50AA3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11235-9DE9-4D0D-BB14-1ED331B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3083F-A476-487E-83CA-B80F0DC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Safety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BD8C2-034F-44F4-BD4E-64378AEC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Policy +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7212C-9A6C-4829-878E-FCAF730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B3B43-8941-4EB3-89B5-EF11041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867C7-98FF-4C99-B5B5-F50E3CCD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095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93808-33C9-4254-898A-D1521BA3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95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F0526-0AE6-4DCA-BBF0-D28C09B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Latency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E193F-BA94-4386-96D0-A61DF65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81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p95 target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7A70C-D1D8-4BFE-A03D-DFC2F9E6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6A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74DF6-21AA-4947-9A43-B723697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619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9525">
            <a:solidFill>
              <a:srgbClr val="D36A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5FF69-2E4C-488C-BBC3-13A1FA7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36A58"/>
                </a:solidFill>
                <a:latin typeface="Helvetica Neue"/>
                <a:ea typeface="Helvetica Neue"/>
                <a:cs typeface="Helvetica Neue"/>
              </a:rPr>
              <a:t>Without a release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278017-03D9-4262-8E31-D514F61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Spend can fall while failure, rework, or policy exposure rises.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78309F-F43F-4EE4-8FA5-3AD92AB0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Release only when all four thresholds pass; log exceptions with an owner and expiry.</a:t>
            </a:r>
          </a:p>
        </p:txBody>
      </p:sp>
    </p:spTree>
    <p:extLst>
      <p:ext uri="{BB962C8B-B14F-4D97-AF65-F5344CB8AC3E}">
        <p14:creationId xmlns:p14="http://schemas.microsoft.com/office/powerpoint/2010/main" val="470042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63713B-12BB-4149-85A5-9C79178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COST GOVERNANCE   / 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BA67D-A4FA-4154-A5C8-C486184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An operating loop makes controls actionable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1631C-E8E0-4F33-81F1-85D0E8CA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Use one monthly review rhythm, with automated limits applied at run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54E5-C1ED-412E-A763-B2D2BA52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0A9C9-05AA-411C-80FA-2B9381D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85ADC-BEBC-4985-9312-6A5A355C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D793C-A3C5-41B1-95B3-A95CCDC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31263-BF46-4D25-984C-E418765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9E788-8AC3-47AD-985C-6929787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Instrument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15B45-8E3E-4E4E-AC68-D6E519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Capture model, tool,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team, and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8F992-30BF-43B4-A6F5-8B5F1B4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8B564-D4C3-47E2-A3E7-EFEDEC4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44FD2-32B5-4F7D-B13C-D9C71DA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656D1-DCC0-4F0F-BF1A-AEF10C0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E91A4-1E0E-4E80-9C9A-5B8C9FD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C4F67-959A-4EF7-9461-F8EA766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Compare cost per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successful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0CAE9-8CC5-44FA-A8D1-069D37C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A521B-7B4D-45D9-9512-74D78F2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5F483-8F62-4CC6-A6EC-B86D591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F92EF-C203-4A25-BECB-EE1F2F3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ACB4A-643C-4416-A5FB-2CAFC8B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Set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0E1C0-D49E-4011-9537-EBD2F2B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Budgets, quality bars,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policy, stop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6FADF-E345-4868-BDDF-A637DF7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6B000-EF47-4A98-B8C4-45B8006D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C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A32C4-63B6-47AC-8FDF-3AA81129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C411A-4B8F-4B22-973B-F8DF2A6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601C8-E4AE-4B9C-B52F-C3E7F69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733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Review &amp; tune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92B1E-F663-4A69-AE8E-993DC7E5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146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Explain variance;</a:t>
            </a:r>
          </a:p>
          <a:p xmlns:a="http://schemas.openxmlformats.org/drawingml/2006/main">
            <a:pPr algn="l">
              <a:def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85"/>
                </a:solidFill>
                <a:latin typeface="Helvetica Neue"/>
                <a:ea typeface="Helvetica Neue"/>
                <a:cs typeface="Helvetica Neue"/>
              </a:rPr>
              <a:t>scale, tune, retire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D97D6-C03C-40BD-A323-7AF66B17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6F171-4853-4966-BEF4-2B8EF83B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040DC-5A8E-40A3-BA5C-29421B6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B8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799054-0384-4F94-846D-EA40045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B85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DCC66-D889-4F31-8505-03DE722D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F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E605A-E596-43CB-8AF3-CE87F8A5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C78"/>
                </a:solidFill>
                <a:latin typeface="Helvetica Neue"/>
                <a:ea typeface="Helvetica Neue"/>
                <a:cs typeface="Helvetica Neue"/>
              </a:rPr>
              <a:t>Run-time guardrails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4AF907-FA4B-427A-90EC-C960C93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29225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Hard spend ceiling  ·  Approved model/tool list  ·  Quality and latency alerts</a:t>
            </a:r>
          </a:p>
        </p:txBody>
      </p:sp>
    </p:spTree>
    <p:extLst>
      <p:ext uri="{BB962C8B-B14F-4D97-AF65-F5344CB8AC3E}">
        <p14:creationId xmlns:p14="http://schemas.microsoft.com/office/powerpoint/2010/main" val="1805064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22AB3-4721-49A1-8E1E-70B0250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COST GOVERNANCE   /  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9B60E-8610-47D2-A05F-F473153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690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 visibility first.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A1BF0-81A1-477E-BC00-3BE9F0B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Approve a 90-day control pilot across three representative agent workloads.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AA08D-2159-4DA4-AC9E-0C1EA7C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1627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D3809-9CB0-4678-B533-6755AFB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A0CAB-6F6C-49C7-AAEF-D816D35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owners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4438E-D217-4D7D-8ADB-536AFD5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One accountable team per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F55ED-ECFC-4E17-B0FE-F4551FA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5F53-0A5F-4404-ADDE-EA2406F6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 shared measures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18312-F879-4887-8179-1B52E15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434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Cost / successful task + quality + latency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8DBC2-062B-4B8E-B2B6-ACB4D37C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F548A-8581-4AFF-BFB4-6056924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Gate 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28CD5-22D4-4120-96B9-59BA770A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864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Review variance monthly; scale only when thresholds 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F702C-DE87-4823-8C75-E26B94B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857500" cy="35623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13B4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B8099-6DE5-4F0F-87BF-A767A0CF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B5D8-2360-477A-B11A-29F78989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Sponsor a 90-day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C096-96F5-4DF2-85AB-93026C41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DC"/>
                </a:solidFill>
                <a:latin typeface="Helvetica Neue"/>
                <a:ea typeface="Helvetica Neue"/>
                <a:cs typeface="Helvetica Neue"/>
              </a:rPr>
              <a:t>Finance + platform + 3 workload owners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93187-1FE4-4363-BDED-78CA127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27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CC9DA-385B-4F8D-AF8E-59A3D4E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243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B85F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EAD50-8A80-42B2-B104-E33572B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cost-to-outcome baseline and a scale / tune / stop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1293B-53E1-4B87-9B8E-185367F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rPr>
              <a:t>BUDGETSIGHT   •   EXECUTIVE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56EBD-E06E-4EFD-9EB1-4DD2723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EBCC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1912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2026-09-27T09:31:42.8020000Z</dcterms:created>
  <dcterms:modified xsi:type="dcterms:W3CDTF">2026-09-27T09:31:42.8020000Z</dcterms:modified>
</coreProperties>
</file>